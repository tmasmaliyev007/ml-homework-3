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5161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09304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52174419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53339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889117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11915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321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382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862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920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528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8973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308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0129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7705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993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931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6957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A79257-E1A2-A9D7-D7A1-0DD50C29A9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719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16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6319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045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021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2662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651EBF-1F7F-C1C9-F3D5-25E7C88423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97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379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8148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7074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387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7642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611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737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46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5259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0655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445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96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446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461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8640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3824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977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748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8457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531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074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54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972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7010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7301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070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486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53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950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4400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7055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472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054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7034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6486" name="Shape 0"/>
          <p:cNvSpPr/>
          <p:nvPr/>
        </p:nvSpPr>
        <p:spPr bwMode="auto">
          <a:xfrm>
            <a:off x="5303520" y="0"/>
            <a:ext cx="3840480" cy="514350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794348015" name="Shape 1"/>
          <p:cNvSpPr/>
          <p:nvPr/>
        </p:nvSpPr>
        <p:spPr bwMode="auto">
          <a:xfrm>
            <a:off x="5577840" y="-548640"/>
            <a:ext cx="2011680" cy="2011680"/>
          </a:xfrm>
          <a:prstGeom prst="ellipse">
            <a:avLst/>
          </a:prstGeom>
          <a:solidFill>
            <a:srgbClr val="FFFFFF">
              <a:alpha val="7999"/>
            </a:srgbClr>
          </a:solidFill>
          <a:ln w="12700">
            <a:solidFill>
              <a:srgbClr val="FFFFFF">
                <a:alpha val="7999"/>
              </a:srgbClr>
            </a:solidFill>
            <a:prstDash val="solid"/>
          </a:ln>
        </p:spPr>
      </p:sp>
      <p:sp>
        <p:nvSpPr>
          <p:cNvPr id="232702742" name="Shape 2"/>
          <p:cNvSpPr/>
          <p:nvPr/>
        </p:nvSpPr>
        <p:spPr bwMode="auto">
          <a:xfrm>
            <a:off x="7132320" y="2926080"/>
            <a:ext cx="2926080" cy="29260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43691018" name="Text 3"/>
          <p:cNvSpPr/>
          <p:nvPr/>
        </p:nvSpPr>
        <p:spPr bwMode="auto">
          <a:xfrm>
            <a:off x="457200" y="10058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Bank Marketing</a:t>
            </a:r>
            <a:endParaRPr lang="en-US" sz="3600"/>
          </a:p>
        </p:txBody>
      </p:sp>
      <p:sp>
        <p:nvSpPr>
          <p:cNvPr id="2027014083" name="Text 4"/>
          <p:cNvSpPr/>
          <p:nvPr/>
        </p:nvSpPr>
        <p:spPr bwMode="auto">
          <a:xfrm>
            <a:off x="457200" y="16276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Applied Machine Learning</a:t>
            </a:r>
            <a:endParaRPr lang="en-US" sz="2600"/>
          </a:p>
        </p:txBody>
      </p:sp>
      <p:sp>
        <p:nvSpPr>
          <p:cNvPr id="620140086" name="Text 5"/>
          <p:cNvSpPr/>
          <p:nvPr/>
        </p:nvSpPr>
        <p:spPr bwMode="auto">
          <a:xfrm>
            <a:off x="457200" y="22677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Resampling · Model Selection · Classification · Regression</a:t>
            </a:r>
            <a:endParaRPr lang="en-US" sz="1200"/>
          </a:p>
        </p:txBody>
      </p:sp>
      <p:sp>
        <p:nvSpPr>
          <p:cNvPr id="1035123830" name="Text 6"/>
          <p:cNvSpPr/>
          <p:nvPr/>
        </p:nvSpPr>
        <p:spPr bwMode="auto">
          <a:xfrm>
            <a:off x="548640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Tahar Masmaliyev, Abdulla Akhundzada</a:t>
            </a:r>
            <a:endParaRPr lang="en-US" sz="1400"/>
          </a:p>
        </p:txBody>
      </p:sp>
      <p:sp>
        <p:nvSpPr>
          <p:cNvPr id="1049969468" name="Text 7"/>
          <p:cNvSpPr/>
          <p:nvPr/>
        </p:nvSpPr>
        <p:spPr bwMode="auto">
          <a:xfrm>
            <a:off x="548640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March 10, 2026</a:t>
            </a:r>
            <a:endParaRPr lang="en-US" sz="1100"/>
          </a:p>
        </p:txBody>
      </p:sp>
      <p:sp>
        <p:nvSpPr>
          <p:cNvPr id="921302382" name="Shape 8"/>
          <p:cNvSpPr/>
          <p:nvPr/>
        </p:nvSpPr>
        <p:spPr bwMode="auto">
          <a:xfrm>
            <a:off x="5669280" y="2377440"/>
            <a:ext cx="292608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90103665" name="Text 9"/>
          <p:cNvSpPr/>
          <p:nvPr/>
        </p:nvSpPr>
        <p:spPr bwMode="auto">
          <a:xfrm>
            <a:off x="5669280" y="2377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Dataset: UCI Bank Marketing</a:t>
            </a:r>
            <a:b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45,211 clients · 16 features</a:t>
            </a:r>
            <a:b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Target: Term Deposit Subscription</a:t>
            </a:r>
            <a:endParaRPr lang="en-US" sz="1000"/>
          </a:p>
        </p:txBody>
      </p:sp>
      <p:sp>
        <p:nvSpPr>
          <p:cNvPr id="1657390365" name="Text 10"/>
          <p:cNvSpPr/>
          <p:nvPr/>
        </p:nvSpPr>
        <p:spPr bwMode="auto">
          <a:xfrm>
            <a:off x="457200" y="48234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85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Moro et al. (2011) · EUROSIS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277037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8518762" name="Shape 1"/>
          <p:cNvSpPr/>
          <p:nvPr/>
        </p:nvSpPr>
        <p:spPr bwMode="auto"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48335314" name="Text 2"/>
          <p:cNvSpPr/>
          <p:nvPr/>
        </p:nvSpPr>
        <p:spPr bwMode="auto">
          <a:xfrm>
            <a:off x="164592" y="0"/>
            <a:ext cx="8814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200"/>
          </a:p>
        </p:txBody>
      </p:sp>
      <p:sp>
        <p:nvSpPr>
          <p:cNvPr id="519164462" name="Shape 3"/>
          <p:cNvSpPr/>
          <p:nvPr/>
        </p:nvSpPr>
        <p:spPr bwMode="auto">
          <a:xfrm>
            <a:off x="164592" y="804672"/>
            <a:ext cx="8814816" cy="603504"/>
          </a:xfrm>
          <a:prstGeom prst="rect">
            <a:avLst/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35677951" name="Shape 4"/>
          <p:cNvSpPr/>
          <p:nvPr/>
        </p:nvSpPr>
        <p:spPr bwMode="auto">
          <a:xfrm>
            <a:off x="164592" y="804672"/>
            <a:ext cx="47548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64081762" name="Text 5"/>
          <p:cNvSpPr/>
          <p:nvPr/>
        </p:nvSpPr>
        <p:spPr bwMode="auto">
          <a:xfrm>
            <a:off x="164592" y="804672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818862972" name="Text 6"/>
          <p:cNvSpPr/>
          <p:nvPr/>
        </p:nvSpPr>
        <p:spPr bwMode="auto">
          <a:xfrm>
            <a:off x="749808" y="850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Dataset &amp; EDA</a:t>
            </a:r>
            <a:endParaRPr lang="en-US" sz="1300"/>
          </a:p>
        </p:txBody>
      </p:sp>
      <p:sp>
        <p:nvSpPr>
          <p:cNvPr id="1377075641" name="Text 7"/>
          <p:cNvSpPr/>
          <p:nvPr/>
        </p:nvSpPr>
        <p:spPr bwMode="auto">
          <a:xfrm>
            <a:off x="749808" y="11155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Bank Marketing — 45k clients, class imbalance, feature overview</a:t>
            </a:r>
            <a:endParaRPr lang="en-US" sz="1000"/>
          </a:p>
        </p:txBody>
      </p:sp>
      <p:sp>
        <p:nvSpPr>
          <p:cNvPr id="2004021236" name="Shape 8"/>
          <p:cNvSpPr/>
          <p:nvPr/>
        </p:nvSpPr>
        <p:spPr bwMode="auto">
          <a:xfrm>
            <a:off x="164592" y="1508759"/>
            <a:ext cx="8814816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49102875" name="Shape 9"/>
          <p:cNvSpPr/>
          <p:nvPr/>
        </p:nvSpPr>
        <p:spPr bwMode="auto">
          <a:xfrm>
            <a:off x="164592" y="1508759"/>
            <a:ext cx="47548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8001276" name="Text 10"/>
          <p:cNvSpPr/>
          <p:nvPr/>
        </p:nvSpPr>
        <p:spPr bwMode="auto">
          <a:xfrm>
            <a:off x="164592" y="1508759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1630315163" name="Text 11"/>
          <p:cNvSpPr/>
          <p:nvPr/>
        </p:nvSpPr>
        <p:spPr bwMode="auto">
          <a:xfrm>
            <a:off x="749808" y="1554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Classification</a:t>
            </a:r>
            <a:endParaRPr lang="en-US" sz="1300"/>
          </a:p>
        </p:txBody>
      </p:sp>
      <p:sp>
        <p:nvSpPr>
          <p:cNvPr id="862204121" name="Text 12"/>
          <p:cNvSpPr/>
          <p:nvPr/>
        </p:nvSpPr>
        <p:spPr bwMode="auto">
          <a:xfrm>
            <a:off x="749808" y="181965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Logistic Regression · LDA/QDA · Naïve Bayes · Comparison</a:t>
            </a:r>
            <a:endParaRPr lang="en-US" sz="1000"/>
          </a:p>
        </p:txBody>
      </p:sp>
      <p:sp>
        <p:nvSpPr>
          <p:cNvPr id="679004427" name="Shape 13"/>
          <p:cNvSpPr/>
          <p:nvPr/>
        </p:nvSpPr>
        <p:spPr bwMode="auto">
          <a:xfrm>
            <a:off x="164592" y="2212848"/>
            <a:ext cx="8814816" cy="603504"/>
          </a:xfrm>
          <a:prstGeom prst="rect">
            <a:avLst/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8046785" name="Shape 14"/>
          <p:cNvSpPr/>
          <p:nvPr/>
        </p:nvSpPr>
        <p:spPr bwMode="auto">
          <a:xfrm>
            <a:off x="164592" y="2212848"/>
            <a:ext cx="47548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05554" name="Text 15"/>
          <p:cNvSpPr/>
          <p:nvPr/>
        </p:nvSpPr>
        <p:spPr bwMode="auto">
          <a:xfrm>
            <a:off x="164592" y="2212848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353520511" name="Text 16"/>
          <p:cNvSpPr/>
          <p:nvPr/>
        </p:nvSpPr>
        <p:spPr bwMode="auto">
          <a:xfrm>
            <a:off x="749808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Regression</a:t>
            </a:r>
            <a:endParaRPr lang="en-US" sz="1300"/>
          </a:p>
        </p:txBody>
      </p:sp>
      <p:sp>
        <p:nvSpPr>
          <p:cNvPr id="101345617" name="Text 17"/>
          <p:cNvSpPr/>
          <p:nvPr/>
        </p:nvSpPr>
        <p:spPr bwMode="auto">
          <a:xfrm>
            <a:off x="749808" y="252374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Linear vs Poisson — predicting campaign contact count</a:t>
            </a:r>
            <a:endParaRPr lang="en-US" sz="1000"/>
          </a:p>
        </p:txBody>
      </p:sp>
      <p:sp>
        <p:nvSpPr>
          <p:cNvPr id="477676776" name="Shape 18"/>
          <p:cNvSpPr/>
          <p:nvPr/>
        </p:nvSpPr>
        <p:spPr bwMode="auto">
          <a:xfrm>
            <a:off x="164592" y="2916936"/>
            <a:ext cx="8814816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1080592" name="Shape 19"/>
          <p:cNvSpPr/>
          <p:nvPr/>
        </p:nvSpPr>
        <p:spPr bwMode="auto">
          <a:xfrm>
            <a:off x="164592" y="2916936"/>
            <a:ext cx="47548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24442932" name="Text 20"/>
          <p:cNvSpPr/>
          <p:nvPr/>
        </p:nvSpPr>
        <p:spPr bwMode="auto">
          <a:xfrm>
            <a:off x="164592" y="2916936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511208096" name="Text 21"/>
          <p:cNvSpPr/>
          <p:nvPr/>
        </p:nvSpPr>
        <p:spPr bwMode="auto">
          <a:xfrm>
            <a:off x="749808" y="29626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Resampling</a:t>
            </a:r>
            <a:endParaRPr lang="en-US" sz="1300"/>
          </a:p>
        </p:txBody>
      </p:sp>
      <p:sp>
        <p:nvSpPr>
          <p:cNvPr id="438938464" name="Text 22"/>
          <p:cNvSpPr/>
          <p:nvPr/>
        </p:nvSpPr>
        <p:spPr bwMode="auto">
          <a:xfrm>
            <a:off x="749808" y="32278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K-Fold CV (K=5,10), LOOCV, Bootstrap — MSE vs polynomial degree</a:t>
            </a:r>
            <a:endParaRPr lang="en-US" sz="1000"/>
          </a:p>
        </p:txBody>
      </p:sp>
      <p:sp>
        <p:nvSpPr>
          <p:cNvPr id="1337165627" name="Shape 23"/>
          <p:cNvSpPr/>
          <p:nvPr/>
        </p:nvSpPr>
        <p:spPr bwMode="auto">
          <a:xfrm>
            <a:off x="164592" y="3621024"/>
            <a:ext cx="8814816" cy="603504"/>
          </a:xfrm>
          <a:prstGeom prst="rect">
            <a:avLst/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18602923" name="Shape 24"/>
          <p:cNvSpPr/>
          <p:nvPr/>
        </p:nvSpPr>
        <p:spPr bwMode="auto">
          <a:xfrm>
            <a:off x="164592" y="3621024"/>
            <a:ext cx="47548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1525038" name="Text 25"/>
          <p:cNvSpPr/>
          <p:nvPr/>
        </p:nvSpPr>
        <p:spPr bwMode="auto">
          <a:xfrm>
            <a:off x="164592" y="3621024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8789330" name="Text 26"/>
          <p:cNvSpPr/>
          <p:nvPr/>
        </p:nvSpPr>
        <p:spPr bwMode="auto">
          <a:xfrm>
            <a:off x="749808" y="3666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Selection</a:t>
            </a:r>
            <a:endParaRPr lang="en-US" sz="1300"/>
          </a:p>
        </p:txBody>
      </p:sp>
      <p:sp>
        <p:nvSpPr>
          <p:cNvPr id="1698471569" name="Text 27"/>
          <p:cNvSpPr/>
          <p:nvPr/>
        </p:nvSpPr>
        <p:spPr bwMode="auto">
          <a:xfrm>
            <a:off x="749808" y="39319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Subset Selection · Ridge &amp; Lasso · PCA Regression · PLS</a:t>
            </a:r>
            <a:endParaRPr lang="en-US" sz="1000"/>
          </a:p>
        </p:txBody>
      </p:sp>
      <p:sp>
        <p:nvSpPr>
          <p:cNvPr id="1737616995" name="Shape 28"/>
          <p:cNvSpPr/>
          <p:nvPr/>
        </p:nvSpPr>
        <p:spPr bwMode="auto">
          <a:xfrm>
            <a:off x="164592" y="4325112"/>
            <a:ext cx="8814816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61730059" name="Shape 29"/>
          <p:cNvSpPr/>
          <p:nvPr/>
        </p:nvSpPr>
        <p:spPr bwMode="auto">
          <a:xfrm>
            <a:off x="164592" y="4325112"/>
            <a:ext cx="47548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04985910" name="Text 30"/>
          <p:cNvSpPr/>
          <p:nvPr/>
        </p:nvSpPr>
        <p:spPr bwMode="auto">
          <a:xfrm>
            <a:off x="164592" y="4325112"/>
            <a:ext cx="475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2002963663" name="Text 31"/>
          <p:cNvSpPr/>
          <p:nvPr/>
        </p:nvSpPr>
        <p:spPr bwMode="auto">
          <a:xfrm>
            <a:off x="749808" y="4370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Results &amp; Conclusions</a:t>
            </a:r>
            <a:endParaRPr lang="en-US" sz="1300"/>
          </a:p>
        </p:txBody>
      </p:sp>
      <p:sp>
        <p:nvSpPr>
          <p:cNvPr id="365033593" name="Text 32"/>
          <p:cNvSpPr/>
          <p:nvPr/>
        </p:nvSpPr>
        <p:spPr bwMode="auto">
          <a:xfrm>
            <a:off x="749808" y="46360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Model comparison, key findings, limitations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835491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16202094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18976054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· DATASET</a:t>
            </a:r>
            <a:endParaRPr lang="en-US" sz="800"/>
          </a:p>
        </p:txBody>
      </p:sp>
      <p:sp>
        <p:nvSpPr>
          <p:cNvPr id="169386468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Bank Marketing Dataset — Overview &amp; EDA</a:t>
            </a:r>
            <a:endParaRPr lang="en-US" sz="2400"/>
          </a:p>
        </p:txBody>
      </p:sp>
      <p:sp>
        <p:nvSpPr>
          <p:cNvPr id="1058160348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07849140" name="Shape 5"/>
          <p:cNvSpPr/>
          <p:nvPr/>
        </p:nvSpPr>
        <p:spPr bwMode="auto">
          <a:xfrm>
            <a:off x="164592" y="1298448"/>
            <a:ext cx="202996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9579212" name="Text 6"/>
          <p:cNvSpPr/>
          <p:nvPr/>
        </p:nvSpPr>
        <p:spPr bwMode="auto">
          <a:xfrm>
            <a:off x="164592" y="1371600"/>
            <a:ext cx="20299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45,211</a:t>
            </a:r>
            <a:endParaRPr lang="en-US" sz="2800"/>
          </a:p>
        </p:txBody>
      </p:sp>
      <p:sp>
        <p:nvSpPr>
          <p:cNvPr id="1134996988" name="Text 7"/>
          <p:cNvSpPr/>
          <p:nvPr/>
        </p:nvSpPr>
        <p:spPr bwMode="auto">
          <a:xfrm>
            <a:off x="164592" y="1826514"/>
            <a:ext cx="2029968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 Clients</a:t>
            </a:r>
            <a:endParaRPr lang="en-US" sz="1000"/>
          </a:p>
        </p:txBody>
      </p:sp>
      <p:sp>
        <p:nvSpPr>
          <p:cNvPr id="93360252" name="Shape 8"/>
          <p:cNvSpPr/>
          <p:nvPr/>
        </p:nvSpPr>
        <p:spPr bwMode="auto">
          <a:xfrm>
            <a:off x="2377440" y="1298448"/>
            <a:ext cx="202996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30252406" name="Text 9"/>
          <p:cNvSpPr/>
          <p:nvPr/>
        </p:nvSpPr>
        <p:spPr bwMode="auto">
          <a:xfrm>
            <a:off x="2377440" y="1371600"/>
            <a:ext cx="20299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2800"/>
          </a:p>
        </p:txBody>
      </p:sp>
      <p:sp>
        <p:nvSpPr>
          <p:cNvPr id="1391876527" name="Text 10"/>
          <p:cNvSpPr/>
          <p:nvPr/>
        </p:nvSpPr>
        <p:spPr bwMode="auto">
          <a:xfrm>
            <a:off x="2377440" y="1826514"/>
            <a:ext cx="2029968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Raw Features</a:t>
            </a:r>
            <a:endParaRPr lang="en-US" sz="1000"/>
          </a:p>
        </p:txBody>
      </p:sp>
      <p:sp>
        <p:nvSpPr>
          <p:cNvPr id="1776016532" name="Shape 11"/>
          <p:cNvSpPr/>
          <p:nvPr/>
        </p:nvSpPr>
        <p:spPr bwMode="auto">
          <a:xfrm>
            <a:off x="4590288" y="1298448"/>
            <a:ext cx="202996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56523104" name="Text 12"/>
          <p:cNvSpPr/>
          <p:nvPr/>
        </p:nvSpPr>
        <p:spPr bwMode="auto">
          <a:xfrm>
            <a:off x="4590288" y="1371600"/>
            <a:ext cx="20299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11.7%</a:t>
            </a:r>
            <a:endParaRPr lang="en-US" sz="2800"/>
          </a:p>
        </p:txBody>
      </p:sp>
      <p:sp>
        <p:nvSpPr>
          <p:cNvPr id="973478862" name="Text 13"/>
          <p:cNvSpPr/>
          <p:nvPr/>
        </p:nvSpPr>
        <p:spPr bwMode="auto">
          <a:xfrm>
            <a:off x="4590288" y="1826514"/>
            <a:ext cx="2029968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Subscription Rate</a:t>
            </a:r>
            <a:endParaRPr lang="en-US" sz="1000"/>
          </a:p>
        </p:txBody>
      </p:sp>
      <p:sp>
        <p:nvSpPr>
          <p:cNvPr id="2069595560" name="Shape 14"/>
          <p:cNvSpPr/>
          <p:nvPr/>
        </p:nvSpPr>
        <p:spPr bwMode="auto">
          <a:xfrm>
            <a:off x="6803136" y="1298448"/>
            <a:ext cx="202996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32803501" name="Text 15"/>
          <p:cNvSpPr/>
          <p:nvPr/>
        </p:nvSpPr>
        <p:spPr bwMode="auto">
          <a:xfrm>
            <a:off x="6803136" y="1371600"/>
            <a:ext cx="202996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88 / 12%</a:t>
            </a:r>
            <a:endParaRPr lang="en-US" sz="2800"/>
          </a:p>
        </p:txBody>
      </p:sp>
      <p:sp>
        <p:nvSpPr>
          <p:cNvPr id="172643597" name="Text 16"/>
          <p:cNvSpPr/>
          <p:nvPr/>
        </p:nvSpPr>
        <p:spPr bwMode="auto">
          <a:xfrm>
            <a:off x="6803136" y="1826514"/>
            <a:ext cx="2029968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Imbalance</a:t>
            </a:r>
            <a:endParaRPr lang="en-US" sz="1000"/>
          </a:p>
        </p:txBody>
      </p:sp>
      <p:sp>
        <p:nvSpPr>
          <p:cNvPr id="420790251" name="Shape 17"/>
          <p:cNvSpPr/>
          <p:nvPr/>
        </p:nvSpPr>
        <p:spPr bwMode="auto">
          <a:xfrm>
            <a:off x="164592" y="2423160"/>
            <a:ext cx="41148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17369672" name="Text 18"/>
          <p:cNvSpPr/>
          <p:nvPr/>
        </p:nvSpPr>
        <p:spPr bwMode="auto">
          <a:xfrm>
            <a:off x="256032" y="248716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Feature Groups</a:t>
            </a:r>
            <a:endParaRPr lang="en-US" sz="1200"/>
          </a:p>
        </p:txBody>
      </p:sp>
      <p:graphicFrame>
        <p:nvGraphicFramePr>
          <p:cNvPr id="34268139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56032" y="2816352"/>
          <a:ext cx="3913632" cy="19202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956816"/>
                <a:gridCol w="1956816"/>
              </a:tblGrid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Features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Numeric (7)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age, balance, day, duration, campaign, pdays, previous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Binary (3)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default, housing, loan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Categorical (6)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job, marital, education, contact, month, poutcome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Target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y — subscribed a term deposit?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2891079" name="Shape 19"/>
          <p:cNvSpPr/>
          <p:nvPr/>
        </p:nvSpPr>
        <p:spPr bwMode="auto">
          <a:xfrm>
            <a:off x="4462272" y="2423160"/>
            <a:ext cx="4517136" cy="11430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9437935" name="Shape 20"/>
          <p:cNvSpPr/>
          <p:nvPr/>
        </p:nvSpPr>
        <p:spPr bwMode="auto">
          <a:xfrm>
            <a:off x="4462272" y="2423160"/>
            <a:ext cx="451713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0180116" name="Text 21"/>
          <p:cNvSpPr/>
          <p:nvPr/>
        </p:nvSpPr>
        <p:spPr bwMode="auto">
          <a:xfrm>
            <a:off x="4462272" y="2423160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plots/eda_distributions.png</a:t>
            </a:r>
            <a:endParaRPr lang="en-US" sz="750"/>
          </a:p>
        </p:txBody>
      </p:sp>
      <p:sp>
        <p:nvSpPr>
          <p:cNvPr id="1016477640" name="Text 22"/>
          <p:cNvSpPr/>
          <p:nvPr/>
        </p:nvSpPr>
        <p:spPr bwMode="auto">
          <a:xfrm>
            <a:off x="4462272" y="2679192"/>
            <a:ext cx="4517136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Numeric Feature Distributions</a:t>
            </a:r>
            <a:endParaRPr lang="en-US" sz="1000"/>
          </a:p>
        </p:txBody>
      </p:sp>
      <p:sp>
        <p:nvSpPr>
          <p:cNvPr id="1124652175" name="Shape 23"/>
          <p:cNvSpPr/>
          <p:nvPr/>
        </p:nvSpPr>
        <p:spPr bwMode="auto">
          <a:xfrm>
            <a:off x="4462272" y="3657600"/>
            <a:ext cx="4517136" cy="11887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5675067" name="Shape 24"/>
          <p:cNvSpPr/>
          <p:nvPr/>
        </p:nvSpPr>
        <p:spPr bwMode="auto">
          <a:xfrm>
            <a:off x="4462272" y="3657600"/>
            <a:ext cx="451713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07920604" name="Text 25"/>
          <p:cNvSpPr/>
          <p:nvPr/>
        </p:nvSpPr>
        <p:spPr bwMode="auto">
          <a:xfrm>
            <a:off x="4462272" y="3657600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plots/eda_target.png</a:t>
            </a:r>
            <a:endParaRPr lang="en-US" sz="750"/>
          </a:p>
        </p:txBody>
      </p:sp>
      <p:sp>
        <p:nvSpPr>
          <p:cNvPr id="249822785" name="Text 26"/>
          <p:cNvSpPr/>
          <p:nvPr/>
        </p:nvSpPr>
        <p:spPr bwMode="auto">
          <a:xfrm>
            <a:off x="4462272" y="3913632"/>
            <a:ext cx="451713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Subscription Rate by Job &amp; Target Balance</a:t>
            </a:r>
            <a:endParaRPr lang="en-US" sz="1000"/>
          </a:p>
        </p:txBody>
      </p:sp>
      <p:pic>
        <p:nvPicPr>
          <p:cNvPr id="1583655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90962" y="2359152"/>
            <a:ext cx="4659754" cy="2487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12233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24533789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77690655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· DATASET</a:t>
            </a:r>
            <a:endParaRPr lang="en-US" sz="800"/>
          </a:p>
        </p:txBody>
      </p:sp>
      <p:sp>
        <p:nvSpPr>
          <p:cNvPr id="1019511939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Overview &amp; EDA – Imbalanced Dataset</a:t>
            </a:r>
            <a:endParaRPr lang="en-US" sz="2400"/>
          </a:p>
        </p:txBody>
      </p:sp>
      <p:sp>
        <p:nvSpPr>
          <p:cNvPr id="1555444978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18894754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4578" y="1455505"/>
            <a:ext cx="8146345" cy="319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234957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2702897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97672501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CLASSIFICATION</a:t>
            </a:r>
            <a:endParaRPr lang="en-US" sz="800"/>
          </a:p>
        </p:txBody>
      </p:sp>
      <p:sp>
        <p:nvSpPr>
          <p:cNvPr id="548989737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Logistic Regression — Inference &amp; Confounding</a:t>
            </a:r>
            <a:endParaRPr lang="en-US" sz="2400"/>
          </a:p>
        </p:txBody>
      </p:sp>
      <p:sp>
        <p:nvSpPr>
          <p:cNvPr id="2059771552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0510916" name="Shape 5"/>
          <p:cNvSpPr/>
          <p:nvPr/>
        </p:nvSpPr>
        <p:spPr bwMode="auto">
          <a:xfrm flipH="0" flipV="0">
            <a:off x="164592" y="1298447"/>
            <a:ext cx="2779907" cy="29529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04644366" name="Text 6"/>
          <p:cNvSpPr/>
          <p:nvPr/>
        </p:nvSpPr>
        <p:spPr bwMode="auto">
          <a:xfrm>
            <a:off x="292608" y="1362455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 &amp; Inference</a:t>
            </a:r>
            <a:endParaRPr lang="en-US" sz="1100"/>
          </a:p>
        </p:txBody>
      </p:sp>
      <p:sp>
        <p:nvSpPr>
          <p:cNvPr id="895035606" name="Text 7"/>
          <p:cNvSpPr/>
          <p:nvPr/>
        </p:nvSpPr>
        <p:spPr bwMode="auto">
          <a:xfrm flipH="0" flipV="0">
            <a:off x="256032" y="1627631"/>
            <a:ext cx="2445051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P(Y=1|X) = σ(Xᵀβ)  — logistic sigmoid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 from Fisher information: Cov(β̂) = (XᵀWX)⁻¹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Wald Z-statistic  ·  Two-sided p-value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Odds Ratio = exp(β̂ⱼ)</a:t>
            </a:r>
            <a:endParaRPr lang="en-US" sz="1100"/>
          </a:p>
        </p:txBody>
      </p:sp>
      <p:sp>
        <p:nvSpPr>
          <p:cNvPr id="1878198145" name="Shape 15"/>
          <p:cNvSpPr/>
          <p:nvPr/>
        </p:nvSpPr>
        <p:spPr bwMode="auto">
          <a:xfrm>
            <a:off x="6201462" y="2080259"/>
            <a:ext cx="2194560" cy="1508759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76395027" name="Shape 16"/>
          <p:cNvSpPr/>
          <p:nvPr/>
        </p:nvSpPr>
        <p:spPr bwMode="auto">
          <a:xfrm>
            <a:off x="6201462" y="2080259"/>
            <a:ext cx="219456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7606679" name="Text 17"/>
          <p:cNvSpPr/>
          <p:nvPr/>
        </p:nvSpPr>
        <p:spPr bwMode="auto">
          <a:xfrm>
            <a:off x="6201462" y="2080259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plots/lr_pvalues.png</a:t>
            </a:r>
            <a:endParaRPr lang="en-US" sz="750"/>
          </a:p>
        </p:txBody>
      </p:sp>
      <p:sp>
        <p:nvSpPr>
          <p:cNvPr id="783991970" name="Text 18"/>
          <p:cNvSpPr/>
          <p:nvPr/>
        </p:nvSpPr>
        <p:spPr bwMode="auto">
          <a:xfrm>
            <a:off x="6201462" y="2336292"/>
            <a:ext cx="2194560" cy="125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Feature Significance (−log₁₀ p)</a:t>
            </a:r>
            <a:endParaRPr lang="en-US" sz="1000"/>
          </a:p>
        </p:txBody>
      </p:sp>
      <p:pic>
        <p:nvPicPr>
          <p:cNvPr id="12655235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39750" y="1305376"/>
            <a:ext cx="2941033" cy="2946039"/>
          </a:xfrm>
          <a:prstGeom prst="rect">
            <a:avLst/>
          </a:prstGeom>
        </p:spPr>
      </p:pic>
      <p:pic>
        <p:nvPicPr>
          <p:cNvPr id="172618114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73446" y="1305376"/>
            <a:ext cx="2934659" cy="2939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545340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5846192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39224007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CLASSIFICATION</a:t>
            </a:r>
            <a:endParaRPr lang="en-US" sz="800"/>
          </a:p>
        </p:txBody>
      </p:sp>
      <p:sp>
        <p:nvSpPr>
          <p:cNvPr id="128620075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Logistic Regression — Inference &amp; Confounding</a:t>
            </a:r>
            <a:endParaRPr lang="en-US" sz="2400"/>
          </a:p>
        </p:txBody>
      </p:sp>
      <p:sp>
        <p:nvSpPr>
          <p:cNvPr id="1127414686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30675430" name="Shape 8"/>
          <p:cNvSpPr/>
          <p:nvPr/>
        </p:nvSpPr>
        <p:spPr bwMode="auto">
          <a:xfrm>
            <a:off x="365675" y="1241689"/>
            <a:ext cx="4114800" cy="150875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18038682" name="Text 9"/>
          <p:cNvSpPr/>
          <p:nvPr/>
        </p:nvSpPr>
        <p:spPr bwMode="auto">
          <a:xfrm>
            <a:off x="493691" y="1305697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Confounding Analysis</a:t>
            </a:r>
            <a:endParaRPr lang="en-US" sz="1100"/>
          </a:p>
        </p:txBody>
      </p:sp>
      <p:sp>
        <p:nvSpPr>
          <p:cNvPr id="1933685785" name="Text 10"/>
          <p:cNvSpPr/>
          <p:nvPr/>
        </p:nvSpPr>
        <p:spPr bwMode="auto">
          <a:xfrm>
            <a:off x="457115" y="1570873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Exposure: duration  ·  Confounder: previous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Compare β(duration) with vs without previous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Criterion: &gt;10% change → confounding</a:t>
            </a:r>
            <a:endParaRPr lang="en-US" sz="1100"/>
          </a:p>
        </p:txBody>
      </p:sp>
      <p:pic>
        <p:nvPicPr>
          <p:cNvPr id="16175754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13006" y="1305697"/>
            <a:ext cx="4066401" cy="3477968"/>
          </a:xfrm>
          <a:prstGeom prst="rect">
            <a:avLst/>
          </a:prstGeom>
        </p:spPr>
      </p:pic>
      <p:pic>
        <p:nvPicPr>
          <p:cNvPr id="10297780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26867" y="2804583"/>
            <a:ext cx="3374128" cy="2223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900580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6790392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30231766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CLASSIFICATION</a:t>
            </a:r>
            <a:endParaRPr lang="en-US" sz="800"/>
          </a:p>
        </p:txBody>
      </p:sp>
      <p:sp>
        <p:nvSpPr>
          <p:cNvPr id="553194649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Discriminant Analysis — LDA &amp; QDA</a:t>
            </a:r>
            <a:endParaRPr lang="en-US" sz="2400"/>
          </a:p>
        </p:txBody>
      </p:sp>
      <p:sp>
        <p:nvSpPr>
          <p:cNvPr id="55934115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2843286" name="Shape 5"/>
          <p:cNvSpPr/>
          <p:nvPr/>
        </p:nvSpPr>
        <p:spPr bwMode="auto">
          <a:xfrm>
            <a:off x="164592" y="1298448"/>
            <a:ext cx="2011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022287519" name="Text 6"/>
          <p:cNvSpPr/>
          <p:nvPr/>
        </p:nvSpPr>
        <p:spPr bwMode="auto">
          <a:xfrm>
            <a:off x="256032" y="136245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LDA  — Linear</a:t>
            </a:r>
            <a:endParaRPr lang="en-US" sz="1100"/>
          </a:p>
        </p:txBody>
      </p:sp>
      <p:sp>
        <p:nvSpPr>
          <p:cNvPr id="194256388" name="Text 7"/>
          <p:cNvSpPr/>
          <p:nvPr/>
        </p:nvSpPr>
        <p:spPr bwMode="auto">
          <a:xfrm>
            <a:off x="256032" y="16459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Shared covariance Σ across classes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Linear decision boundary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Optimal threshold via Youden's J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 = TPR − FPR  maximised</a:t>
            </a:r>
            <a:endParaRPr lang="en-US" sz="1000"/>
          </a:p>
        </p:txBody>
      </p:sp>
      <p:sp>
        <p:nvSpPr>
          <p:cNvPr id="2045131656" name="Shape 8"/>
          <p:cNvSpPr/>
          <p:nvPr/>
        </p:nvSpPr>
        <p:spPr bwMode="auto">
          <a:xfrm>
            <a:off x="2359152" y="1298448"/>
            <a:ext cx="2011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78597920" name="Text 9"/>
          <p:cNvSpPr/>
          <p:nvPr/>
        </p:nvSpPr>
        <p:spPr bwMode="auto">
          <a:xfrm>
            <a:off x="2450592" y="136245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QDA  — Quadratic</a:t>
            </a:r>
            <a:endParaRPr lang="en-US" sz="1100"/>
          </a:p>
        </p:txBody>
      </p:sp>
      <p:sp>
        <p:nvSpPr>
          <p:cNvPr id="384951232" name="Text 10"/>
          <p:cNvSpPr/>
          <p:nvPr/>
        </p:nvSpPr>
        <p:spPr bwMode="auto">
          <a:xfrm flipH="0" flipV="0">
            <a:off x="2359152" y="1645920"/>
            <a:ext cx="2011680" cy="1417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Class-specific covariance Σₖ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Quadratic decision boundary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More flexible, needs more data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Regularisation: </a:t>
            </a:r>
            <a:endParaRPr lang="en-US" sz="10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5000"/>
              </a:lnSpc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	reg_param = 0.1</a:t>
            </a:r>
            <a:endParaRPr lang="en-US" sz="1000"/>
          </a:p>
        </p:txBody>
      </p:sp>
      <p:sp>
        <p:nvSpPr>
          <p:cNvPr id="1486837181" name="Shape 11"/>
          <p:cNvSpPr/>
          <p:nvPr/>
        </p:nvSpPr>
        <p:spPr bwMode="auto">
          <a:xfrm>
            <a:off x="4553712" y="1298448"/>
            <a:ext cx="1371600" cy="8229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900697425" name="Text 12"/>
          <p:cNvSpPr/>
          <p:nvPr/>
        </p:nvSpPr>
        <p:spPr bwMode="auto">
          <a:xfrm>
            <a:off x="4553712" y="137160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2800"/>
          </a:p>
        </p:txBody>
      </p:sp>
      <p:sp>
        <p:nvSpPr>
          <p:cNvPr id="2006898956" name="Text 13"/>
          <p:cNvSpPr/>
          <p:nvPr/>
        </p:nvSpPr>
        <p:spPr bwMode="auto">
          <a:xfrm>
            <a:off x="4553712" y="1751076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LDA AUC</a:t>
            </a:r>
            <a:endParaRPr lang="en-US" sz="1000"/>
          </a:p>
        </p:txBody>
      </p:sp>
      <p:sp>
        <p:nvSpPr>
          <p:cNvPr id="104104891" name="Shape 14"/>
          <p:cNvSpPr/>
          <p:nvPr/>
        </p:nvSpPr>
        <p:spPr bwMode="auto">
          <a:xfrm>
            <a:off x="6108192" y="1298448"/>
            <a:ext cx="1371600" cy="8229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555970248" name="Text 15"/>
          <p:cNvSpPr/>
          <p:nvPr/>
        </p:nvSpPr>
        <p:spPr bwMode="auto">
          <a:xfrm>
            <a:off x="6108192" y="137160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2800"/>
          </a:p>
        </p:txBody>
      </p:sp>
      <p:sp>
        <p:nvSpPr>
          <p:cNvPr id="1633963398" name="Text 16"/>
          <p:cNvSpPr/>
          <p:nvPr/>
        </p:nvSpPr>
        <p:spPr bwMode="auto">
          <a:xfrm>
            <a:off x="6108192" y="1751076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QDA AUC</a:t>
            </a:r>
            <a:endParaRPr lang="en-US" sz="1000"/>
          </a:p>
        </p:txBody>
      </p:sp>
      <p:sp>
        <p:nvSpPr>
          <p:cNvPr id="1528914782" name="Shape 17"/>
          <p:cNvSpPr/>
          <p:nvPr/>
        </p:nvSpPr>
        <p:spPr bwMode="auto">
          <a:xfrm>
            <a:off x="7662672" y="1298448"/>
            <a:ext cx="1371600" cy="8229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041739240" name="Text 18"/>
          <p:cNvSpPr/>
          <p:nvPr/>
        </p:nvSpPr>
        <p:spPr bwMode="auto">
          <a:xfrm>
            <a:off x="7662672" y="137160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2800"/>
          </a:p>
        </p:txBody>
      </p:sp>
      <p:sp>
        <p:nvSpPr>
          <p:cNvPr id="1778254325" name="Text 19"/>
          <p:cNvSpPr/>
          <p:nvPr/>
        </p:nvSpPr>
        <p:spPr bwMode="auto">
          <a:xfrm>
            <a:off x="7662672" y="1751076"/>
            <a:ext cx="1371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 Threshold</a:t>
            </a:r>
            <a:endParaRPr lang="en-US" sz="1000"/>
          </a:p>
        </p:txBody>
      </p:sp>
      <p:sp>
        <p:nvSpPr>
          <p:cNvPr id="726633157" name="Shape 20"/>
          <p:cNvSpPr/>
          <p:nvPr/>
        </p:nvSpPr>
        <p:spPr bwMode="auto">
          <a:xfrm>
            <a:off x="164592" y="3273552"/>
            <a:ext cx="4389120" cy="15727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70260999" name="Shape 21"/>
          <p:cNvSpPr/>
          <p:nvPr/>
        </p:nvSpPr>
        <p:spPr bwMode="auto">
          <a:xfrm>
            <a:off x="164592" y="3273552"/>
            <a:ext cx="438912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7667535" name="Text 22"/>
          <p:cNvSpPr/>
          <p:nvPr/>
        </p:nvSpPr>
        <p:spPr bwMode="auto">
          <a:xfrm>
            <a:off x="164592" y="32735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plots/lda_roc_threshold.png</a:t>
            </a:r>
            <a:endParaRPr lang="en-US" sz="750"/>
          </a:p>
        </p:txBody>
      </p:sp>
      <p:sp>
        <p:nvSpPr>
          <p:cNvPr id="615868093" name="Text 23"/>
          <p:cNvSpPr/>
          <p:nvPr/>
        </p:nvSpPr>
        <p:spPr bwMode="auto">
          <a:xfrm>
            <a:off x="164592" y="3529584"/>
            <a:ext cx="438912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LDA ROC Curve + Youden's J Threshold Analysis</a:t>
            </a:r>
            <a:endParaRPr lang="en-US" sz="1000"/>
          </a:p>
        </p:txBody>
      </p:sp>
      <p:sp>
        <p:nvSpPr>
          <p:cNvPr id="244755395" name="Shape 24"/>
          <p:cNvSpPr/>
          <p:nvPr/>
        </p:nvSpPr>
        <p:spPr bwMode="auto">
          <a:xfrm>
            <a:off x="4681728" y="2231136"/>
            <a:ext cx="4297680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952837" name="Shape 25"/>
          <p:cNvSpPr/>
          <p:nvPr/>
        </p:nvSpPr>
        <p:spPr bwMode="auto">
          <a:xfrm>
            <a:off x="4681728" y="2231136"/>
            <a:ext cx="429768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68408284" name="Text 26"/>
          <p:cNvSpPr/>
          <p:nvPr/>
        </p:nvSpPr>
        <p:spPr bwMode="auto">
          <a:xfrm>
            <a:off x="4681728" y="22311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plots/lda_projection.png</a:t>
            </a:r>
            <a:endParaRPr lang="en-US" sz="750"/>
          </a:p>
        </p:txBody>
      </p:sp>
      <p:sp>
        <p:nvSpPr>
          <p:cNvPr id="603936078" name="Text 27"/>
          <p:cNvSpPr/>
          <p:nvPr/>
        </p:nvSpPr>
        <p:spPr bwMode="auto">
          <a:xfrm>
            <a:off x="4681728" y="2487168"/>
            <a:ext cx="42976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LDA Projection onto LD1</a:t>
            </a:r>
            <a:endParaRPr lang="en-US" sz="1000"/>
          </a:p>
        </p:txBody>
      </p:sp>
      <p:sp>
        <p:nvSpPr>
          <p:cNvPr id="1178846596" name="Shape 28"/>
          <p:cNvSpPr/>
          <p:nvPr/>
        </p:nvSpPr>
        <p:spPr bwMode="auto">
          <a:xfrm>
            <a:off x="4681728" y="3547872"/>
            <a:ext cx="4297680" cy="129844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08719101" name="Shape 29"/>
          <p:cNvSpPr/>
          <p:nvPr/>
        </p:nvSpPr>
        <p:spPr bwMode="auto">
          <a:xfrm>
            <a:off x="4681728" y="3547872"/>
            <a:ext cx="429768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02946092" name="Text 30"/>
          <p:cNvSpPr/>
          <p:nvPr/>
        </p:nvSpPr>
        <p:spPr bwMode="auto">
          <a:xfrm>
            <a:off x="4681728" y="35478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plots/lda_qda_roc.png</a:t>
            </a:r>
            <a:endParaRPr lang="en-US" sz="750"/>
          </a:p>
        </p:txBody>
      </p:sp>
      <p:sp>
        <p:nvSpPr>
          <p:cNvPr id="907561986" name="Text 31"/>
          <p:cNvSpPr/>
          <p:nvPr/>
        </p:nvSpPr>
        <p:spPr bwMode="auto">
          <a:xfrm>
            <a:off x="4681728" y="3803904"/>
            <a:ext cx="42976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LDA vs QDA ROC Comparison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905746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5989054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85893548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CLASSIFICATION</a:t>
            </a:r>
            <a:endParaRPr lang="en-US" sz="800"/>
          </a:p>
        </p:txBody>
      </p:sp>
      <p:sp>
        <p:nvSpPr>
          <p:cNvPr id="1821912887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Naïve Bayes &amp; Full Model Comparison</a:t>
            </a:r>
            <a:endParaRPr lang="en-US" sz="2400"/>
          </a:p>
        </p:txBody>
      </p:sp>
      <p:sp>
        <p:nvSpPr>
          <p:cNvPr id="295389651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06069006" name="Shape 5"/>
          <p:cNvSpPr/>
          <p:nvPr/>
        </p:nvSpPr>
        <p:spPr bwMode="auto">
          <a:xfrm>
            <a:off x="164592" y="1298448"/>
            <a:ext cx="2926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084256451" name="Text 6"/>
          <p:cNvSpPr/>
          <p:nvPr/>
        </p:nvSpPr>
        <p:spPr bwMode="auto">
          <a:xfrm>
            <a:off x="274320" y="1362455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Gaussian Naïve Bayes</a:t>
            </a:r>
            <a:endParaRPr lang="en-US" sz="1100"/>
          </a:p>
        </p:txBody>
      </p:sp>
      <p:sp>
        <p:nvSpPr>
          <p:cNvPr id="654804789" name="Text 7"/>
          <p:cNvSpPr/>
          <p:nvPr/>
        </p:nvSpPr>
        <p:spPr bwMode="auto">
          <a:xfrm>
            <a:off x="274320" y="1645920"/>
            <a:ext cx="2697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Assumes feature independence: P(X|Y) = ΠP(Xⱼ|Y)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Per-class Gaussian: P(Xⱼ|Y=k) = N(μₖⱼ, σ²ₖⱼ)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Fast baseline — independence violated here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Competitive AUC despite assumption</a:t>
            </a:r>
            <a:endParaRPr lang="en-US" sz="1000"/>
          </a:p>
        </p:txBody>
      </p:sp>
      <p:sp>
        <p:nvSpPr>
          <p:cNvPr id="131623691" name="Shape 8"/>
          <p:cNvSpPr/>
          <p:nvPr/>
        </p:nvSpPr>
        <p:spPr bwMode="auto">
          <a:xfrm>
            <a:off x="164592" y="2999232"/>
            <a:ext cx="8814816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454336154" name="Text 9"/>
          <p:cNvSpPr/>
          <p:nvPr/>
        </p:nvSpPr>
        <p:spPr bwMode="auto">
          <a:xfrm>
            <a:off x="274320" y="30540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 Comparison</a:t>
            </a:r>
            <a:endParaRPr lang="en-US" sz="1100"/>
          </a:p>
        </p:txBody>
      </p:sp>
      <p:graphicFrame>
        <p:nvGraphicFramePr>
          <p:cNvPr id="12466263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56032" y="3337560"/>
          <a:ext cx="8631936" cy="138988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438656"/>
                <a:gridCol w="1438656"/>
                <a:gridCol w="1438656"/>
                <a:gridCol w="1438656"/>
                <a:gridCol w="1438656"/>
                <a:gridCol w="1438656"/>
              </a:tblGrid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 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ROC AUC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LDA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QDA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Naïve Bayes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175007" name="Shape 10"/>
          <p:cNvSpPr/>
          <p:nvPr/>
        </p:nvSpPr>
        <p:spPr bwMode="auto">
          <a:xfrm>
            <a:off x="3200400" y="1298448"/>
            <a:ext cx="5779008" cy="16002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1424537" name="Shape 11"/>
          <p:cNvSpPr/>
          <p:nvPr/>
        </p:nvSpPr>
        <p:spPr bwMode="auto">
          <a:xfrm>
            <a:off x="3200400" y="1298448"/>
            <a:ext cx="5779008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76010365" name="Text 12"/>
          <p:cNvSpPr/>
          <p:nvPr/>
        </p:nvSpPr>
        <p:spPr bwMode="auto">
          <a:xfrm>
            <a:off x="3200400" y="1298448"/>
            <a:ext cx="5779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plots/model_comparison_roc.png</a:t>
            </a:r>
            <a:endParaRPr lang="en-US" sz="750"/>
          </a:p>
        </p:txBody>
      </p:sp>
      <p:sp>
        <p:nvSpPr>
          <p:cNvPr id="1809882114" name="Text 13"/>
          <p:cNvSpPr/>
          <p:nvPr/>
        </p:nvSpPr>
        <p:spPr bwMode="auto">
          <a:xfrm>
            <a:off x="3200400" y="1554480"/>
            <a:ext cx="5779008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ROC Curves: LR · LDA · QDA · Naïve Bayes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959226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50769845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74421650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 · REGRESSION</a:t>
            </a:r>
            <a:endParaRPr lang="en-US" sz="800"/>
          </a:p>
        </p:txBody>
      </p:sp>
      <p:sp>
        <p:nvSpPr>
          <p:cNvPr id="792536784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Linear vs Poisson Regression — Campaign Contacts</a:t>
            </a:r>
            <a:endParaRPr lang="en-US" sz="2400"/>
          </a:p>
        </p:txBody>
      </p:sp>
      <p:sp>
        <p:nvSpPr>
          <p:cNvPr id="836259588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99881189" name="Shape 5"/>
          <p:cNvSpPr/>
          <p:nvPr/>
        </p:nvSpPr>
        <p:spPr bwMode="auto">
          <a:xfrm>
            <a:off x="164592" y="1298448"/>
            <a:ext cx="2103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284336591" name="Shape 6"/>
          <p:cNvSpPr/>
          <p:nvPr/>
        </p:nvSpPr>
        <p:spPr bwMode="auto">
          <a:xfrm>
            <a:off x="164592" y="1298448"/>
            <a:ext cx="21031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06973024" name="Text 7"/>
          <p:cNvSpPr/>
          <p:nvPr/>
        </p:nvSpPr>
        <p:spPr bwMode="auto">
          <a:xfrm>
            <a:off x="237744" y="129844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Linear Regression</a:t>
            </a:r>
            <a:endParaRPr lang="en-US" sz="1100"/>
          </a:p>
        </p:txBody>
      </p:sp>
      <p:sp>
        <p:nvSpPr>
          <p:cNvPr id="189295030" name="Text 8"/>
          <p:cNvSpPr/>
          <p:nvPr/>
        </p:nvSpPr>
        <p:spPr bwMode="auto">
          <a:xfrm>
            <a:off x="237744" y="1664208"/>
            <a:ext cx="19568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E[campaign|X] = Xᵀβ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Assumes Gaussian errors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 predict negatives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Symmetric residuals</a:t>
            </a:r>
            <a:endParaRPr lang="en-US" sz="1050"/>
          </a:p>
        </p:txBody>
      </p:sp>
      <p:sp>
        <p:nvSpPr>
          <p:cNvPr id="1652229221" name="Shape 9"/>
          <p:cNvSpPr/>
          <p:nvPr/>
        </p:nvSpPr>
        <p:spPr bwMode="auto">
          <a:xfrm>
            <a:off x="2496312" y="1298448"/>
            <a:ext cx="2103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4123049" name="Shape 10"/>
          <p:cNvSpPr/>
          <p:nvPr/>
        </p:nvSpPr>
        <p:spPr bwMode="auto">
          <a:xfrm>
            <a:off x="2496312" y="1298448"/>
            <a:ext cx="210312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51674965" name="Text 11"/>
          <p:cNvSpPr/>
          <p:nvPr/>
        </p:nvSpPr>
        <p:spPr bwMode="auto">
          <a:xfrm>
            <a:off x="2569464" y="129844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Poisson Regression</a:t>
            </a:r>
            <a:endParaRPr lang="en-US" sz="1100"/>
          </a:p>
        </p:txBody>
      </p:sp>
      <p:sp>
        <p:nvSpPr>
          <p:cNvPr id="1662706228" name="Text 12"/>
          <p:cNvSpPr/>
          <p:nvPr/>
        </p:nvSpPr>
        <p:spPr bwMode="auto">
          <a:xfrm>
            <a:off x="2569464" y="1664208"/>
            <a:ext cx="19568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E[campaign|X] = exp(Xᵀβ)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Log-link → non-negative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Var = E (equidispersion)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Correct for count data</a:t>
            </a:r>
            <a:endParaRPr lang="en-US" sz="1050"/>
          </a:p>
        </p:txBody>
      </p:sp>
      <p:sp>
        <p:nvSpPr>
          <p:cNvPr id="1891351579" name="Shape 13"/>
          <p:cNvSpPr/>
          <p:nvPr/>
        </p:nvSpPr>
        <p:spPr bwMode="auto">
          <a:xfrm>
            <a:off x="164592" y="3182112"/>
            <a:ext cx="4297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588113053" name="Text 14"/>
          <p:cNvSpPr/>
          <p:nvPr/>
        </p:nvSpPr>
        <p:spPr bwMode="auto">
          <a:xfrm>
            <a:off x="27432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⚠  Overdispersion Check</a:t>
            </a:r>
            <a:endParaRPr lang="en-US" sz="1100"/>
          </a:p>
        </p:txBody>
      </p:sp>
      <p:sp>
        <p:nvSpPr>
          <p:cNvPr id="789883839" name="Text 15"/>
          <p:cNvSpPr/>
          <p:nvPr/>
        </p:nvSpPr>
        <p:spPr bwMode="auto">
          <a:xfrm>
            <a:off x="274320" y="3547872"/>
            <a:ext cx="4069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Var(campaign) &gt;&gt; Mean(campaign)  →  overdispersed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Poisson equidispersion (Var = Mean) violated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Negative Binomial regression recommended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Poisson still preferred over Linear for count data</a:t>
            </a:r>
            <a:endParaRPr lang="en-US" sz="1050"/>
          </a:p>
        </p:txBody>
      </p:sp>
      <p:sp>
        <p:nvSpPr>
          <p:cNvPr id="445027198" name="Shape 16"/>
          <p:cNvSpPr/>
          <p:nvPr/>
        </p:nvSpPr>
        <p:spPr bwMode="auto">
          <a:xfrm>
            <a:off x="4645152" y="1298448"/>
            <a:ext cx="4334256" cy="135331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23821418" name="Shape 17"/>
          <p:cNvSpPr/>
          <p:nvPr/>
        </p:nvSpPr>
        <p:spPr bwMode="auto">
          <a:xfrm>
            <a:off x="4645152" y="1298448"/>
            <a:ext cx="433425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33915593" name="Text 18"/>
          <p:cNvSpPr/>
          <p:nvPr/>
        </p:nvSpPr>
        <p:spPr bwMode="auto">
          <a:xfrm>
            <a:off x="4645152" y="1298448"/>
            <a:ext cx="433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plots/regression_comparison.png</a:t>
            </a:r>
            <a:endParaRPr lang="en-US" sz="750"/>
          </a:p>
        </p:txBody>
      </p:sp>
      <p:sp>
        <p:nvSpPr>
          <p:cNvPr id="1225527670" name="Text 19"/>
          <p:cNvSpPr/>
          <p:nvPr/>
        </p:nvSpPr>
        <p:spPr bwMode="auto">
          <a:xfrm>
            <a:off x="4645152" y="1554480"/>
            <a:ext cx="43342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Actual vs Predicted: Linear &amp; Poisson</a:t>
            </a:r>
            <a:endParaRPr lang="en-US" sz="1000"/>
          </a:p>
        </p:txBody>
      </p:sp>
      <p:sp>
        <p:nvSpPr>
          <p:cNvPr id="931704901" name="Shape 20"/>
          <p:cNvSpPr/>
          <p:nvPr/>
        </p:nvSpPr>
        <p:spPr bwMode="auto">
          <a:xfrm>
            <a:off x="4645152" y="2761488"/>
            <a:ext cx="4334256" cy="206654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02148562" name="Shape 21"/>
          <p:cNvSpPr/>
          <p:nvPr/>
        </p:nvSpPr>
        <p:spPr bwMode="auto">
          <a:xfrm>
            <a:off x="4645152" y="2761488"/>
            <a:ext cx="433425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40293188" name="Text 22"/>
          <p:cNvSpPr/>
          <p:nvPr/>
        </p:nvSpPr>
        <p:spPr bwMode="auto">
          <a:xfrm>
            <a:off x="4645152" y="2761488"/>
            <a:ext cx="433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plots/regression_residuals.png</a:t>
            </a:r>
            <a:endParaRPr lang="en-US" sz="750"/>
          </a:p>
        </p:txBody>
      </p:sp>
      <p:sp>
        <p:nvSpPr>
          <p:cNvPr id="829725510" name="Text 23"/>
          <p:cNvSpPr/>
          <p:nvPr/>
        </p:nvSpPr>
        <p:spPr bwMode="auto">
          <a:xfrm>
            <a:off x="4645152" y="3017519"/>
            <a:ext cx="4334256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Residual Plots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895733" name="Shape 0"/>
          <p:cNvSpPr/>
          <p:nvPr/>
        </p:nvSpPr>
        <p:spPr bwMode="auto">
          <a:xfrm>
            <a:off x="0" y="0"/>
            <a:ext cx="4114800" cy="514350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775090289" name="Shape 1"/>
          <p:cNvSpPr/>
          <p:nvPr/>
        </p:nvSpPr>
        <p:spPr bwMode="auto"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9598305" name="Text 2"/>
          <p:cNvSpPr/>
          <p:nvPr/>
        </p:nvSpPr>
        <p:spPr bwMode="auto">
          <a:xfrm>
            <a:off x="274320" y="1097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7200"/>
          </a:p>
        </p:txBody>
      </p:sp>
      <p:sp>
        <p:nvSpPr>
          <p:cNvPr id="421057816" name="Text 3"/>
          <p:cNvSpPr/>
          <p:nvPr/>
        </p:nvSpPr>
        <p:spPr bwMode="auto">
          <a:xfrm>
            <a:off x="27432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Resampling Methods</a:t>
            </a:r>
            <a:endParaRPr lang="en-US" sz="2400"/>
          </a:p>
        </p:txBody>
      </p:sp>
      <p:sp>
        <p:nvSpPr>
          <p:cNvPr id="1794109939" name="Shape 4"/>
          <p:cNvSpPr/>
          <p:nvPr/>
        </p:nvSpPr>
        <p:spPr bwMode="auto">
          <a:xfrm>
            <a:off x="274320" y="2743200"/>
            <a:ext cx="54864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46099876" name="Text 5"/>
          <p:cNvSpPr/>
          <p:nvPr/>
        </p:nvSpPr>
        <p:spPr bwMode="auto">
          <a:xfrm>
            <a:off x="438912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K-Fold Cross-Validation (K=5, K=10)</a:t>
            </a:r>
            <a:endParaRPr lang="en-US" sz="1200"/>
          </a:p>
        </p:txBody>
      </p:sp>
      <p:sp>
        <p:nvSpPr>
          <p:cNvPr id="979384035" name="Shape 6"/>
          <p:cNvSpPr/>
          <p:nvPr/>
        </p:nvSpPr>
        <p:spPr bwMode="auto">
          <a:xfrm>
            <a:off x="274320" y="3227832"/>
            <a:ext cx="54864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74268848" name="Text 7"/>
          <p:cNvSpPr/>
          <p:nvPr/>
        </p:nvSpPr>
        <p:spPr bwMode="auto">
          <a:xfrm>
            <a:off x="438912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LOOCV (K=n)</a:t>
            </a:r>
            <a:endParaRPr lang="en-US" sz="1200"/>
          </a:p>
        </p:txBody>
      </p:sp>
      <p:sp>
        <p:nvSpPr>
          <p:cNvPr id="183598247" name="Shape 8"/>
          <p:cNvSpPr/>
          <p:nvPr/>
        </p:nvSpPr>
        <p:spPr bwMode="auto">
          <a:xfrm>
            <a:off x="274320" y="3712464"/>
            <a:ext cx="54864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00409482" name="Text 9"/>
          <p:cNvSpPr/>
          <p:nvPr/>
        </p:nvSpPr>
        <p:spPr bwMode="auto">
          <a:xfrm>
            <a:off x="438912" y="3712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Bootstrap (OOB)</a:t>
            </a:r>
            <a:endParaRPr lang="en-US" sz="1200"/>
          </a:p>
        </p:txBody>
      </p:sp>
      <p:sp>
        <p:nvSpPr>
          <p:cNvPr id="1852895890" name="Shape 10"/>
          <p:cNvSpPr/>
          <p:nvPr/>
        </p:nvSpPr>
        <p:spPr bwMode="auto">
          <a:xfrm>
            <a:off x="274320" y="4197096"/>
            <a:ext cx="54864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09323719" name="Text 11"/>
          <p:cNvSpPr/>
          <p:nvPr/>
        </p:nvSpPr>
        <p:spPr bwMode="auto">
          <a:xfrm>
            <a:off x="438912" y="4197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MSE vs Polynomial Degree</a:t>
            </a:r>
            <a:endParaRPr lang="en-US" sz="1200"/>
          </a:p>
        </p:txBody>
      </p:sp>
      <p:sp>
        <p:nvSpPr>
          <p:cNvPr id="2086101114" name="Text 12"/>
          <p:cNvSpPr/>
          <p:nvPr/>
        </p:nvSpPr>
        <p:spPr bwMode="auto">
          <a:xfrm>
            <a:off x="42976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Regression target: account balance (€)</a:t>
            </a:r>
            <a:endParaRPr lang="en-US" sz="1300"/>
          </a:p>
        </p:txBody>
      </p:sp>
      <p:sp>
        <p:nvSpPr>
          <p:cNvPr id="65404411" name="Text 13"/>
          <p:cNvSpPr/>
          <p:nvPr/>
        </p:nvSpPr>
        <p:spPr bwMode="auto">
          <a:xfrm>
            <a:off x="4297680" y="2240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 methods estimate test error across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polynomial degrees 1–5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685603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98009985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52244721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 · RESAMPLING</a:t>
            </a:r>
            <a:endParaRPr lang="en-US" sz="800"/>
          </a:p>
        </p:txBody>
      </p:sp>
      <p:sp>
        <p:nvSpPr>
          <p:cNvPr id="911170710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Cross-Validation: K = 5, K = 10, LOOCV</a:t>
            </a:r>
            <a:endParaRPr lang="en-US" sz="2400"/>
          </a:p>
        </p:txBody>
      </p:sp>
      <p:sp>
        <p:nvSpPr>
          <p:cNvPr id="485910679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86060497" name="Shape 5"/>
          <p:cNvSpPr/>
          <p:nvPr/>
        </p:nvSpPr>
        <p:spPr bwMode="auto">
          <a:xfrm>
            <a:off x="164592" y="1298448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543914860" name="Text 6"/>
          <p:cNvSpPr/>
          <p:nvPr/>
        </p:nvSpPr>
        <p:spPr bwMode="auto">
          <a:xfrm>
            <a:off x="274320" y="136245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200"/>
          </a:p>
        </p:txBody>
      </p:sp>
      <p:sp>
        <p:nvSpPr>
          <p:cNvPr id="1484504439" name="Text 7"/>
          <p:cNvSpPr/>
          <p:nvPr/>
        </p:nvSpPr>
        <p:spPr bwMode="auto">
          <a:xfrm>
            <a:off x="274320" y="16824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CV</a:t>
            </a:r>
            <a:r>
              <a:rPr lang="en-US"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(K)</a:t>
            </a:r>
            <a:r>
              <a:rPr lang="en-US"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=  (1/K) Σ MSEₖ</a:t>
            </a:r>
            <a:endParaRPr lang="en-US" sz="1300"/>
          </a:p>
        </p:txBody>
      </p:sp>
      <p:graphicFrame>
        <p:nvGraphicFramePr>
          <p:cNvPr id="33016231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274320" y="2084832"/>
          <a:ext cx="3749040" cy="16916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37260"/>
                <a:gridCol w="937260"/>
                <a:gridCol w="937260"/>
                <a:gridCol w="93726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Bias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Variance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Cost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K=5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Moderate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Fast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K=10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Moderate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LOOCV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Very low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Very slow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79285505" name="Shape 8"/>
          <p:cNvSpPr/>
          <p:nvPr/>
        </p:nvSpPr>
        <p:spPr bwMode="auto">
          <a:xfrm>
            <a:off x="4370832" y="1298448"/>
            <a:ext cx="4608576" cy="260604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80005272" name="Shape 9"/>
          <p:cNvSpPr/>
          <p:nvPr/>
        </p:nvSpPr>
        <p:spPr bwMode="auto">
          <a:xfrm>
            <a:off x="4370832" y="1298448"/>
            <a:ext cx="460857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0553253" name="Text 10"/>
          <p:cNvSpPr/>
          <p:nvPr/>
        </p:nvSpPr>
        <p:spPr bwMode="auto">
          <a:xfrm>
            <a:off x="4370832" y="1298448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plots/resample_cv_mse_degree.png</a:t>
            </a:r>
            <a:endParaRPr lang="en-US" sz="750"/>
          </a:p>
        </p:txBody>
      </p:sp>
      <p:sp>
        <p:nvSpPr>
          <p:cNvPr id="469658208" name="Text 11"/>
          <p:cNvSpPr/>
          <p:nvPr/>
        </p:nvSpPr>
        <p:spPr bwMode="auto">
          <a:xfrm>
            <a:off x="4370832" y="1554480"/>
            <a:ext cx="4608576" cy="2350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MSE vs Polynomial Degree — K=5, K=10, LOOCV</a:t>
            </a:r>
            <a:endParaRPr lang="en-US" sz="1000"/>
          </a:p>
        </p:txBody>
      </p:sp>
      <p:sp>
        <p:nvSpPr>
          <p:cNvPr id="872747112" name="Shape 12"/>
          <p:cNvSpPr/>
          <p:nvPr/>
        </p:nvSpPr>
        <p:spPr bwMode="auto">
          <a:xfrm>
            <a:off x="164592" y="3995928"/>
            <a:ext cx="881481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02183930" name="Text 13"/>
          <p:cNvSpPr/>
          <p:nvPr/>
        </p:nvSpPr>
        <p:spPr bwMode="auto">
          <a:xfrm>
            <a:off x="292608" y="4059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💡  Key Finding:</a:t>
            </a:r>
            <a:endParaRPr lang="en-US" sz="1100"/>
          </a:p>
        </p:txBody>
      </p:sp>
      <p:sp>
        <p:nvSpPr>
          <p:cNvPr id="851546633" name="Text 14"/>
          <p:cNvSpPr/>
          <p:nvPr/>
        </p:nvSpPr>
        <p:spPr bwMode="auto">
          <a:xfrm>
            <a:off x="1664208" y="4059936"/>
            <a:ext cx="717803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Degree 1 (linear) is optimal across all CV methods — polynomial features overfit due to limited balance-campaign signal. K=5 and K=10 agree closely; LOOCV (subsampled) confirms the trend.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1559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64455631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7771285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 · RESAMPLING</a:t>
            </a:r>
            <a:endParaRPr lang="en-US" sz="800"/>
          </a:p>
        </p:txBody>
      </p:sp>
      <p:sp>
        <p:nvSpPr>
          <p:cNvPr id="245913511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Bootstrap Resampling — OOB Error Estimation</a:t>
            </a:r>
            <a:endParaRPr lang="en-US" sz="2400"/>
          </a:p>
        </p:txBody>
      </p:sp>
      <p:sp>
        <p:nvSpPr>
          <p:cNvPr id="425172832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6578923" name="Shape 5"/>
          <p:cNvSpPr/>
          <p:nvPr/>
        </p:nvSpPr>
        <p:spPr bwMode="auto">
          <a:xfrm>
            <a:off x="164592" y="1298448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713133733" name="Text 6"/>
          <p:cNvSpPr/>
          <p:nvPr/>
        </p:nvSpPr>
        <p:spPr bwMode="auto">
          <a:xfrm>
            <a:off x="274320" y="136245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Bootstrap OOB Estimator</a:t>
            </a:r>
            <a:endParaRPr lang="en-US" sz="1200"/>
          </a:p>
        </p:txBody>
      </p:sp>
      <p:sp>
        <p:nvSpPr>
          <p:cNvPr id="598488951" name="Text 7"/>
          <p:cNvSpPr/>
          <p:nvPr/>
        </p:nvSpPr>
        <p:spPr bwMode="auto">
          <a:xfrm>
            <a:off x="274320" y="1691640"/>
            <a:ext cx="3749040" cy="1508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Draw B samples of size n with replacement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OOB set ≈ 36.8% of data (never selected)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Err̂ᵇᵒᵒᵗ = (1/B) Σ MSE on OOBᵦ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Gives full sampling distribution of MSE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 = 200 iterations in this analysis</a:t>
            </a:r>
            <a:endParaRPr lang="en-US" sz="1100"/>
          </a:p>
        </p:txBody>
      </p:sp>
      <p:sp>
        <p:nvSpPr>
          <p:cNvPr id="1548401519" name="Shape 8"/>
          <p:cNvSpPr/>
          <p:nvPr/>
        </p:nvSpPr>
        <p:spPr bwMode="auto">
          <a:xfrm>
            <a:off x="164592" y="3401568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40584090" name="Text 9"/>
          <p:cNvSpPr/>
          <p:nvPr/>
        </p:nvSpPr>
        <p:spPr bwMode="auto">
          <a:xfrm>
            <a:off x="274320" y="34655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Bootstrap vs CV</a:t>
            </a:r>
            <a:endParaRPr lang="en-US" sz="1200"/>
          </a:p>
        </p:txBody>
      </p:sp>
      <p:sp>
        <p:nvSpPr>
          <p:cNvPr id="463307349" name="Text 10"/>
          <p:cNvSpPr/>
          <p:nvPr/>
        </p:nvSpPr>
        <p:spPr bwMode="auto">
          <a:xfrm>
            <a:off x="274320" y="3749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Both give consistent MSE estimates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Bootstrap uniquely provides 95% CI on error</a:t>
            </a:r>
            <a:endParaRPr lang="en-US" sz="11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95% CI: [FILL IN from dashboard]</a:t>
            </a:r>
            <a:endParaRPr lang="en-US" sz="1100"/>
          </a:p>
        </p:txBody>
      </p:sp>
      <p:sp>
        <p:nvSpPr>
          <p:cNvPr id="1271840265" name="Shape 11"/>
          <p:cNvSpPr/>
          <p:nvPr/>
        </p:nvSpPr>
        <p:spPr bwMode="auto">
          <a:xfrm>
            <a:off x="4370832" y="1298448"/>
            <a:ext cx="4608576" cy="128016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5931531" name="Shape 12"/>
          <p:cNvSpPr/>
          <p:nvPr/>
        </p:nvSpPr>
        <p:spPr bwMode="auto">
          <a:xfrm>
            <a:off x="4370832" y="1298448"/>
            <a:ext cx="460857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55789168" name="Text 13"/>
          <p:cNvSpPr/>
          <p:nvPr/>
        </p:nvSpPr>
        <p:spPr bwMode="auto">
          <a:xfrm>
            <a:off x="4370832" y="1298448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plots/resample_bootstrap_mse_degree.png</a:t>
            </a:r>
            <a:endParaRPr lang="en-US" sz="750"/>
          </a:p>
        </p:txBody>
      </p:sp>
      <p:sp>
        <p:nvSpPr>
          <p:cNvPr id="2111076455" name="Text 14"/>
          <p:cNvSpPr/>
          <p:nvPr/>
        </p:nvSpPr>
        <p:spPr bwMode="auto">
          <a:xfrm>
            <a:off x="4370832" y="1554480"/>
            <a:ext cx="46085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Bootstrap vs CV K=5: MSE vs Degree</a:t>
            </a:r>
            <a:endParaRPr lang="en-US" sz="1000"/>
          </a:p>
        </p:txBody>
      </p:sp>
      <p:sp>
        <p:nvSpPr>
          <p:cNvPr id="423394998" name="Shape 15"/>
          <p:cNvSpPr/>
          <p:nvPr/>
        </p:nvSpPr>
        <p:spPr bwMode="auto">
          <a:xfrm>
            <a:off x="4370832" y="2688336"/>
            <a:ext cx="4608576" cy="213055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09209139" name="Shape 16"/>
          <p:cNvSpPr/>
          <p:nvPr/>
        </p:nvSpPr>
        <p:spPr bwMode="auto">
          <a:xfrm>
            <a:off x="4370832" y="2688336"/>
            <a:ext cx="460857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45935469" name="Text 17"/>
          <p:cNvSpPr/>
          <p:nvPr/>
        </p:nvSpPr>
        <p:spPr bwMode="auto">
          <a:xfrm>
            <a:off x="4370832" y="2688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plots/resample_bootstrap_dist.png</a:t>
            </a:r>
            <a:endParaRPr lang="en-US" sz="750"/>
          </a:p>
        </p:txBody>
      </p:sp>
      <p:sp>
        <p:nvSpPr>
          <p:cNvPr id="2023472014" name="Text 18"/>
          <p:cNvSpPr/>
          <p:nvPr/>
        </p:nvSpPr>
        <p:spPr bwMode="auto">
          <a:xfrm>
            <a:off x="4370832" y="2944368"/>
            <a:ext cx="460857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Bootstrap MSE Sampling Distribution (Degree 1)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643015" name="Shape 0"/>
          <p:cNvSpPr/>
          <p:nvPr/>
        </p:nvSpPr>
        <p:spPr bwMode="auto">
          <a:xfrm>
            <a:off x="5029200" y="0"/>
            <a:ext cx="4114800" cy="514350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904051180" name="Text 1"/>
          <p:cNvSpPr/>
          <p:nvPr/>
        </p:nvSpPr>
        <p:spPr bwMode="auto">
          <a:xfrm>
            <a:off x="365760" y="1097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7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7200"/>
          </a:p>
        </p:txBody>
      </p:sp>
      <p:sp>
        <p:nvSpPr>
          <p:cNvPr id="580218462" name="Text 2"/>
          <p:cNvSpPr/>
          <p:nvPr/>
        </p:nvSpPr>
        <p:spPr bwMode="auto">
          <a:xfrm>
            <a:off x="365760" y="2057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Selection</a:t>
            </a:r>
            <a:endParaRPr lang="en-US" sz="2400"/>
          </a:p>
        </p:txBody>
      </p:sp>
      <p:sp>
        <p:nvSpPr>
          <p:cNvPr id="84687832" name="Shape 3"/>
          <p:cNvSpPr/>
          <p:nvPr/>
        </p:nvSpPr>
        <p:spPr bwMode="auto">
          <a:xfrm>
            <a:off x="365760" y="2834640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02273709" name="Text 4"/>
          <p:cNvSpPr/>
          <p:nvPr/>
        </p:nvSpPr>
        <p:spPr bwMode="auto">
          <a:xfrm>
            <a:off x="530352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2a · Forward Stepwise  —  Cp, AIC, BIC, Adj-R², CV</a:t>
            </a:r>
            <a:endParaRPr lang="en-US" sz="1150"/>
          </a:p>
        </p:txBody>
      </p:sp>
      <p:sp>
        <p:nvSpPr>
          <p:cNvPr id="306159536" name="Shape 5"/>
          <p:cNvSpPr/>
          <p:nvPr/>
        </p:nvSpPr>
        <p:spPr bwMode="auto">
          <a:xfrm>
            <a:off x="365760" y="3291840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56715415" name="Text 6"/>
          <p:cNvSpPr/>
          <p:nvPr/>
        </p:nvSpPr>
        <p:spPr bwMode="auto">
          <a:xfrm>
            <a:off x="530352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2b · Ridge &amp; Lasso Shrinkage  —  Bias-Variance tradeoff</a:t>
            </a:r>
            <a:endParaRPr lang="en-US" sz="1150"/>
          </a:p>
        </p:txBody>
      </p:sp>
      <p:sp>
        <p:nvSpPr>
          <p:cNvPr id="505188247" name="Shape 7"/>
          <p:cNvSpPr/>
          <p:nvPr/>
        </p:nvSpPr>
        <p:spPr bwMode="auto">
          <a:xfrm>
            <a:off x="365760" y="3749040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71757419" name="Text 8"/>
          <p:cNvSpPr/>
          <p:nvPr/>
        </p:nvSpPr>
        <p:spPr bwMode="auto">
          <a:xfrm>
            <a:off x="530352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2c · PCA Regression  —  MSE vs components</a:t>
            </a:r>
            <a:endParaRPr lang="en-US" sz="1150"/>
          </a:p>
        </p:txBody>
      </p:sp>
      <p:sp>
        <p:nvSpPr>
          <p:cNvPr id="1614699289" name="Shape 9"/>
          <p:cNvSpPr/>
          <p:nvPr/>
        </p:nvSpPr>
        <p:spPr bwMode="auto">
          <a:xfrm>
            <a:off x="365760" y="4206240"/>
            <a:ext cx="5486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97454550" name="Text 10"/>
          <p:cNvSpPr/>
          <p:nvPr/>
        </p:nvSpPr>
        <p:spPr bwMode="auto">
          <a:xfrm>
            <a:off x="530352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2c · PLS Regression  —  vs PCR &amp; full OLS</a:t>
            </a:r>
            <a:endParaRPr lang="en-US" sz="1150"/>
          </a:p>
        </p:txBody>
      </p:sp>
      <p:sp>
        <p:nvSpPr>
          <p:cNvPr id="1408475537" name="Text 11"/>
          <p:cNvSpPr/>
          <p:nvPr/>
        </p:nvSpPr>
        <p:spPr bwMode="auto">
          <a:xfrm>
            <a:off x="521208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Target: account balance (€)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Features: 10 numeric-origin predictors</a:t>
            </a:r>
            <a:endParaRPr lang="en-US" sz="1300"/>
          </a:p>
        </p:txBody>
      </p:sp>
      <p:sp>
        <p:nvSpPr>
          <p:cNvPr id="1353677623" name="Text 12"/>
          <p:cNvSpPr/>
          <p:nvPr/>
        </p:nvSpPr>
        <p:spPr bwMode="auto">
          <a:xfrm>
            <a:off x="5212080" y="2331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Why balance?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80% / 20% train-test split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All models evaluated on same held-out set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269225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6401097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8800422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05A · SUBSET SELECTION</a:t>
            </a:r>
            <a:endParaRPr lang="en-US" sz="800"/>
          </a:p>
        </p:txBody>
      </p:sp>
      <p:sp>
        <p:nvSpPr>
          <p:cNvPr id="1637531355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Forward Stepwise Selection — Criteria</a:t>
            </a:r>
            <a:endParaRPr lang="en-US" sz="2400"/>
          </a:p>
        </p:txBody>
      </p:sp>
      <p:sp>
        <p:nvSpPr>
          <p:cNvPr id="669866348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6506345" name="Shape 5"/>
          <p:cNvSpPr/>
          <p:nvPr/>
        </p:nvSpPr>
        <p:spPr bwMode="auto">
          <a:xfrm>
            <a:off x="164592" y="1298448"/>
            <a:ext cx="208483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420650501" name="Text 6"/>
          <p:cNvSpPr/>
          <p:nvPr/>
        </p:nvSpPr>
        <p:spPr bwMode="auto">
          <a:xfrm>
            <a:off x="256032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Mallow's Cₚ</a:t>
            </a:r>
            <a:endParaRPr lang="en-US" sz="1100"/>
          </a:p>
        </p:txBody>
      </p:sp>
      <p:sp>
        <p:nvSpPr>
          <p:cNvPr id="522672531" name="Text 7"/>
          <p:cNvSpPr/>
          <p:nvPr/>
        </p:nvSpPr>
        <p:spPr bwMode="auto">
          <a:xfrm>
            <a:off x="256032" y="15727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(RSS + 2kσ̂²) / n</a:t>
            </a:r>
            <a:endParaRPr lang="en-US" sz="900"/>
          </a:p>
        </p:txBody>
      </p:sp>
      <p:sp>
        <p:nvSpPr>
          <p:cNvPr id="1155320616" name="Text 8"/>
          <p:cNvSpPr/>
          <p:nvPr/>
        </p:nvSpPr>
        <p:spPr bwMode="auto">
          <a:xfrm>
            <a:off x="256032" y="17739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Estimates test MSE; penalises added params</a:t>
            </a:r>
            <a:endParaRPr lang="en-US" sz="850"/>
          </a:p>
        </p:txBody>
      </p:sp>
      <p:sp>
        <p:nvSpPr>
          <p:cNvPr id="835805414" name="Shape 9"/>
          <p:cNvSpPr/>
          <p:nvPr/>
        </p:nvSpPr>
        <p:spPr bwMode="auto">
          <a:xfrm>
            <a:off x="2377440" y="1298448"/>
            <a:ext cx="208483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088343193" name="Text 10"/>
          <p:cNvSpPr/>
          <p:nvPr/>
        </p:nvSpPr>
        <p:spPr bwMode="auto">
          <a:xfrm>
            <a:off x="2468880" y="13533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AIC</a:t>
            </a:r>
            <a:endParaRPr lang="en-US" sz="1100"/>
          </a:p>
        </p:txBody>
      </p:sp>
      <p:sp>
        <p:nvSpPr>
          <p:cNvPr id="633153326" name="Text 11"/>
          <p:cNvSpPr/>
          <p:nvPr/>
        </p:nvSpPr>
        <p:spPr bwMode="auto">
          <a:xfrm>
            <a:off x="2468880" y="15727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n·ln(RSS/n) + 2(k+1)</a:t>
            </a:r>
            <a:endParaRPr lang="en-US" sz="900"/>
          </a:p>
        </p:txBody>
      </p:sp>
      <p:sp>
        <p:nvSpPr>
          <p:cNvPr id="357170381" name="Text 12"/>
          <p:cNvSpPr/>
          <p:nvPr/>
        </p:nvSpPr>
        <p:spPr bwMode="auto">
          <a:xfrm>
            <a:off x="2468880" y="17739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Information-theoretic; moderate penalty</a:t>
            </a:r>
            <a:endParaRPr lang="en-US" sz="850"/>
          </a:p>
        </p:txBody>
      </p:sp>
      <p:sp>
        <p:nvSpPr>
          <p:cNvPr id="1516206489" name="Shape 13"/>
          <p:cNvSpPr/>
          <p:nvPr/>
        </p:nvSpPr>
        <p:spPr bwMode="auto">
          <a:xfrm>
            <a:off x="164592" y="2231136"/>
            <a:ext cx="208483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45311349" name="Text 14"/>
          <p:cNvSpPr/>
          <p:nvPr/>
        </p:nvSpPr>
        <p:spPr bwMode="auto">
          <a:xfrm>
            <a:off x="256032" y="22860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BIC</a:t>
            </a:r>
            <a:endParaRPr lang="en-US" sz="1100"/>
          </a:p>
        </p:txBody>
      </p:sp>
      <p:sp>
        <p:nvSpPr>
          <p:cNvPr id="1447400198" name="Text 15"/>
          <p:cNvSpPr/>
          <p:nvPr/>
        </p:nvSpPr>
        <p:spPr bwMode="auto">
          <a:xfrm>
            <a:off x="256032" y="2505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n·ln(RSS/n) + ln(n)·(k+1)</a:t>
            </a:r>
            <a:endParaRPr lang="en-US" sz="900"/>
          </a:p>
        </p:txBody>
      </p:sp>
      <p:sp>
        <p:nvSpPr>
          <p:cNvPr id="1855197008" name="Text 16"/>
          <p:cNvSpPr/>
          <p:nvPr/>
        </p:nvSpPr>
        <p:spPr bwMode="auto">
          <a:xfrm>
            <a:off x="256032" y="2706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Stronger penalty; selects fewest features</a:t>
            </a:r>
            <a:endParaRPr lang="en-US" sz="850"/>
          </a:p>
        </p:txBody>
      </p:sp>
      <p:sp>
        <p:nvSpPr>
          <p:cNvPr id="799521985" name="Shape 17"/>
          <p:cNvSpPr/>
          <p:nvPr/>
        </p:nvSpPr>
        <p:spPr bwMode="auto">
          <a:xfrm>
            <a:off x="2377440" y="2231136"/>
            <a:ext cx="208483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912380046" name="Text 18"/>
          <p:cNvSpPr/>
          <p:nvPr/>
        </p:nvSpPr>
        <p:spPr bwMode="auto">
          <a:xfrm>
            <a:off x="2468880" y="22860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Adjusted R²</a:t>
            </a:r>
            <a:endParaRPr lang="en-US" sz="1100"/>
          </a:p>
        </p:txBody>
      </p:sp>
      <p:sp>
        <p:nvSpPr>
          <p:cNvPr id="1584857387" name="Text 19"/>
          <p:cNvSpPr/>
          <p:nvPr/>
        </p:nvSpPr>
        <p:spPr bwMode="auto">
          <a:xfrm>
            <a:off x="2468880" y="2505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1 − RSS/(n−k−1) / TSS/(n−1)</a:t>
            </a:r>
            <a:endParaRPr lang="en-US" sz="900"/>
          </a:p>
        </p:txBody>
      </p:sp>
      <p:sp>
        <p:nvSpPr>
          <p:cNvPr id="946033045" name="Text 20"/>
          <p:cNvSpPr/>
          <p:nvPr/>
        </p:nvSpPr>
        <p:spPr bwMode="auto">
          <a:xfrm>
            <a:off x="2468880" y="2706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Penalises added predictors via df</a:t>
            </a:r>
            <a:endParaRPr lang="en-US" sz="850"/>
          </a:p>
        </p:txBody>
      </p:sp>
      <p:sp>
        <p:nvSpPr>
          <p:cNvPr id="920515197" name="Text 21"/>
          <p:cNvSpPr/>
          <p:nvPr/>
        </p:nvSpPr>
        <p:spPr bwMode="auto">
          <a:xfrm>
            <a:off x="164592" y="3236976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i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+ 5-fold CV MSE for honest evaluation</a:t>
            </a:r>
            <a:endParaRPr lang="en-US" sz="1100"/>
          </a:p>
        </p:txBody>
      </p:sp>
      <p:sp>
        <p:nvSpPr>
          <p:cNvPr id="1396926376" name="Shape 22"/>
          <p:cNvSpPr/>
          <p:nvPr/>
        </p:nvSpPr>
        <p:spPr bwMode="auto">
          <a:xfrm>
            <a:off x="164592" y="3639312"/>
            <a:ext cx="749808" cy="877824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393802588" name="Text 23"/>
          <p:cNvSpPr/>
          <p:nvPr/>
        </p:nvSpPr>
        <p:spPr bwMode="auto">
          <a:xfrm>
            <a:off x="164592" y="3675888"/>
            <a:ext cx="749808" cy="456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1800"/>
          </a:p>
        </p:txBody>
      </p:sp>
      <p:sp>
        <p:nvSpPr>
          <p:cNvPr id="99195372" name="Text 24"/>
          <p:cNvSpPr/>
          <p:nvPr/>
        </p:nvSpPr>
        <p:spPr bwMode="auto">
          <a:xfrm>
            <a:off x="164592" y="4113336"/>
            <a:ext cx="749808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Cₚ opt</a:t>
            </a:r>
            <a:endParaRPr lang="en-US" sz="900"/>
          </a:p>
        </p:txBody>
      </p:sp>
      <p:sp>
        <p:nvSpPr>
          <p:cNvPr id="421263688" name="Shape 25"/>
          <p:cNvSpPr/>
          <p:nvPr/>
        </p:nvSpPr>
        <p:spPr bwMode="auto">
          <a:xfrm>
            <a:off x="1005840" y="3639312"/>
            <a:ext cx="749808" cy="877824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456850805" name="Text 26"/>
          <p:cNvSpPr/>
          <p:nvPr/>
        </p:nvSpPr>
        <p:spPr bwMode="auto">
          <a:xfrm>
            <a:off x="1005840" y="3675888"/>
            <a:ext cx="749808" cy="456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1800"/>
          </a:p>
        </p:txBody>
      </p:sp>
      <p:sp>
        <p:nvSpPr>
          <p:cNvPr id="1608980751" name="Text 27"/>
          <p:cNvSpPr/>
          <p:nvPr/>
        </p:nvSpPr>
        <p:spPr bwMode="auto">
          <a:xfrm>
            <a:off x="1005840" y="4113336"/>
            <a:ext cx="749808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AIC opt</a:t>
            </a:r>
            <a:endParaRPr lang="en-US" sz="900"/>
          </a:p>
        </p:txBody>
      </p:sp>
      <p:sp>
        <p:nvSpPr>
          <p:cNvPr id="187107749" name="Shape 28"/>
          <p:cNvSpPr/>
          <p:nvPr/>
        </p:nvSpPr>
        <p:spPr bwMode="auto">
          <a:xfrm>
            <a:off x="1847088" y="3639312"/>
            <a:ext cx="74980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3981796" name="Text 29"/>
          <p:cNvSpPr/>
          <p:nvPr/>
        </p:nvSpPr>
        <p:spPr bwMode="auto">
          <a:xfrm>
            <a:off x="1847088" y="3675888"/>
            <a:ext cx="749808" cy="456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1800"/>
          </a:p>
        </p:txBody>
      </p:sp>
      <p:sp>
        <p:nvSpPr>
          <p:cNvPr id="1916330791" name="Text 30"/>
          <p:cNvSpPr/>
          <p:nvPr/>
        </p:nvSpPr>
        <p:spPr bwMode="auto">
          <a:xfrm>
            <a:off x="1847088" y="4113336"/>
            <a:ext cx="749808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BIC opt</a:t>
            </a:r>
            <a:endParaRPr lang="en-US" sz="900"/>
          </a:p>
        </p:txBody>
      </p:sp>
      <p:sp>
        <p:nvSpPr>
          <p:cNvPr id="854671740" name="Shape 31"/>
          <p:cNvSpPr/>
          <p:nvPr/>
        </p:nvSpPr>
        <p:spPr bwMode="auto">
          <a:xfrm>
            <a:off x="2688336" y="3639312"/>
            <a:ext cx="749808" cy="877824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2030363176" name="Text 32"/>
          <p:cNvSpPr/>
          <p:nvPr/>
        </p:nvSpPr>
        <p:spPr bwMode="auto">
          <a:xfrm>
            <a:off x="2688336" y="3675888"/>
            <a:ext cx="749808" cy="456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1800"/>
          </a:p>
        </p:txBody>
      </p:sp>
      <p:sp>
        <p:nvSpPr>
          <p:cNvPr id="20263608" name="Text 33"/>
          <p:cNvSpPr/>
          <p:nvPr/>
        </p:nvSpPr>
        <p:spPr bwMode="auto">
          <a:xfrm>
            <a:off x="2688336" y="4113336"/>
            <a:ext cx="749808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 R²</a:t>
            </a:r>
            <a:endParaRPr lang="en-US" sz="900"/>
          </a:p>
        </p:txBody>
      </p:sp>
      <p:sp>
        <p:nvSpPr>
          <p:cNvPr id="1101852006" name="Shape 34"/>
          <p:cNvSpPr/>
          <p:nvPr/>
        </p:nvSpPr>
        <p:spPr bwMode="auto">
          <a:xfrm>
            <a:off x="3529584" y="3639312"/>
            <a:ext cx="749808" cy="877824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028432215" name="Text 35"/>
          <p:cNvSpPr/>
          <p:nvPr/>
        </p:nvSpPr>
        <p:spPr bwMode="auto">
          <a:xfrm>
            <a:off x="3529584" y="3675888"/>
            <a:ext cx="749808" cy="456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1800"/>
          </a:p>
        </p:txBody>
      </p:sp>
      <p:sp>
        <p:nvSpPr>
          <p:cNvPr id="1370772416" name="Text 36"/>
          <p:cNvSpPr/>
          <p:nvPr/>
        </p:nvSpPr>
        <p:spPr bwMode="auto">
          <a:xfrm>
            <a:off x="3529584" y="4113336"/>
            <a:ext cx="749808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CV opt</a:t>
            </a:r>
            <a:endParaRPr lang="en-US" sz="900"/>
          </a:p>
        </p:txBody>
      </p:sp>
      <p:sp>
        <p:nvSpPr>
          <p:cNvPr id="1206777572" name="Shape 37"/>
          <p:cNvSpPr/>
          <p:nvPr/>
        </p:nvSpPr>
        <p:spPr bwMode="auto">
          <a:xfrm>
            <a:off x="4553712" y="1298448"/>
            <a:ext cx="4425696" cy="29352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77560125" name="Shape 38"/>
          <p:cNvSpPr/>
          <p:nvPr/>
        </p:nvSpPr>
        <p:spPr bwMode="auto">
          <a:xfrm>
            <a:off x="4553712" y="1298448"/>
            <a:ext cx="442569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91106652" name="Text 39"/>
          <p:cNvSpPr/>
          <p:nvPr/>
        </p:nvSpPr>
        <p:spPr bwMode="auto">
          <a:xfrm>
            <a:off x="4553712" y="1298448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plots/subset_selection_criteria.png</a:t>
            </a:r>
            <a:endParaRPr lang="en-US" sz="750"/>
          </a:p>
        </p:txBody>
      </p:sp>
      <p:sp>
        <p:nvSpPr>
          <p:cNvPr id="1501269445" name="Text 40"/>
          <p:cNvSpPr/>
          <p:nvPr/>
        </p:nvSpPr>
        <p:spPr bwMode="auto">
          <a:xfrm>
            <a:off x="4553712" y="1554480"/>
            <a:ext cx="4425696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 · AIC · BIC · Adj-R² · CV MSE vs #Predictors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843775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15072722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8218249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05B · SHRINKAGE</a:t>
            </a:r>
            <a:endParaRPr lang="en-US" sz="800"/>
          </a:p>
        </p:txBody>
      </p:sp>
      <p:sp>
        <p:nvSpPr>
          <p:cNvPr id="1882888192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Ridge &amp; Lasso Regularisation</a:t>
            </a:r>
            <a:endParaRPr lang="en-US" sz="2400"/>
          </a:p>
        </p:txBody>
      </p:sp>
      <p:sp>
        <p:nvSpPr>
          <p:cNvPr id="1468068972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49065077" name="Shape 5"/>
          <p:cNvSpPr/>
          <p:nvPr/>
        </p:nvSpPr>
        <p:spPr bwMode="auto">
          <a:xfrm>
            <a:off x="164592" y="1298448"/>
            <a:ext cx="2103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80380322" name="Shape 6"/>
          <p:cNvSpPr/>
          <p:nvPr/>
        </p:nvSpPr>
        <p:spPr bwMode="auto">
          <a:xfrm>
            <a:off x="164592" y="1298448"/>
            <a:ext cx="21031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2457326" name="Text 7"/>
          <p:cNvSpPr/>
          <p:nvPr/>
        </p:nvSpPr>
        <p:spPr bwMode="auto">
          <a:xfrm>
            <a:off x="237744" y="129844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Ridge  (L2)</a:t>
            </a:r>
            <a:endParaRPr lang="en-US" sz="1200"/>
          </a:p>
        </p:txBody>
      </p:sp>
      <p:sp>
        <p:nvSpPr>
          <p:cNvPr id="1906914519" name="Text 8"/>
          <p:cNvSpPr/>
          <p:nvPr/>
        </p:nvSpPr>
        <p:spPr bwMode="auto">
          <a:xfrm>
            <a:off x="237744" y="1664208"/>
            <a:ext cx="1920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‖y − Xβ‖² + λ‖β‖²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Closed-form: (XᵀX + λI)⁻¹Xᵀy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Shrinks all coefs toward 0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Never exact zero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Optimal λ: [FILL]</a:t>
            </a:r>
            <a:endParaRPr lang="en-US" sz="1050"/>
          </a:p>
        </p:txBody>
      </p:sp>
      <p:sp>
        <p:nvSpPr>
          <p:cNvPr id="495941089" name="Shape 9"/>
          <p:cNvSpPr/>
          <p:nvPr/>
        </p:nvSpPr>
        <p:spPr bwMode="auto">
          <a:xfrm>
            <a:off x="2395728" y="1298448"/>
            <a:ext cx="2103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3510121" name="Shape 10"/>
          <p:cNvSpPr/>
          <p:nvPr/>
        </p:nvSpPr>
        <p:spPr bwMode="auto">
          <a:xfrm>
            <a:off x="2395728" y="1298448"/>
            <a:ext cx="2103120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98233659" name="Text 11"/>
          <p:cNvSpPr/>
          <p:nvPr/>
        </p:nvSpPr>
        <p:spPr bwMode="auto">
          <a:xfrm>
            <a:off x="2468880" y="129844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Lasso  (L1)</a:t>
            </a:r>
            <a:endParaRPr lang="en-US" sz="1200"/>
          </a:p>
        </p:txBody>
      </p:sp>
      <p:sp>
        <p:nvSpPr>
          <p:cNvPr id="1071937882" name="Text 12"/>
          <p:cNvSpPr/>
          <p:nvPr/>
        </p:nvSpPr>
        <p:spPr bwMode="auto">
          <a:xfrm>
            <a:off x="2468880" y="1664208"/>
            <a:ext cx="1920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‖y − Xβ‖² + λ‖β‖₁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L1 induces exact sparsity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Automatic feature selection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Optimal λ: [FILL]</a:t>
            </a:r>
            <a:endParaRPr lang="en-US" sz="105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Non-zero coefs: [FILL] / 10</a:t>
            </a:r>
            <a:endParaRPr lang="en-US" sz="1050"/>
          </a:p>
        </p:txBody>
      </p:sp>
      <p:sp>
        <p:nvSpPr>
          <p:cNvPr id="1691483018" name="Shape 13"/>
          <p:cNvSpPr/>
          <p:nvPr/>
        </p:nvSpPr>
        <p:spPr bwMode="auto">
          <a:xfrm>
            <a:off x="4681728" y="1298448"/>
            <a:ext cx="4297680" cy="11704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50916464" name="Shape 14"/>
          <p:cNvSpPr/>
          <p:nvPr/>
        </p:nvSpPr>
        <p:spPr bwMode="auto">
          <a:xfrm>
            <a:off x="4681728" y="1298448"/>
            <a:ext cx="429768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77887511" name="Text 15"/>
          <p:cNvSpPr/>
          <p:nvPr/>
        </p:nvSpPr>
        <p:spPr bwMode="auto">
          <a:xfrm>
            <a:off x="4681728" y="12984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plots/shrinkage_cv_mse.png</a:t>
            </a:r>
            <a:endParaRPr lang="en-US" sz="750"/>
          </a:p>
        </p:txBody>
      </p:sp>
      <p:sp>
        <p:nvSpPr>
          <p:cNvPr id="753458854" name="Text 16"/>
          <p:cNvSpPr/>
          <p:nvPr/>
        </p:nvSpPr>
        <p:spPr bwMode="auto">
          <a:xfrm>
            <a:off x="4681728" y="15544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CV MSE vs λ — Ridge &amp; Lasso</a:t>
            </a:r>
            <a:endParaRPr lang="en-US" sz="1000"/>
          </a:p>
        </p:txBody>
      </p:sp>
      <p:sp>
        <p:nvSpPr>
          <p:cNvPr id="1856540256" name="Shape 17"/>
          <p:cNvSpPr/>
          <p:nvPr/>
        </p:nvSpPr>
        <p:spPr bwMode="auto">
          <a:xfrm>
            <a:off x="4681728" y="2578608"/>
            <a:ext cx="4297680" cy="11704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49126674" name="Shape 18"/>
          <p:cNvSpPr/>
          <p:nvPr/>
        </p:nvSpPr>
        <p:spPr bwMode="auto">
          <a:xfrm>
            <a:off x="4681728" y="2578608"/>
            <a:ext cx="429768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68616106" name="Text 19"/>
          <p:cNvSpPr/>
          <p:nvPr/>
        </p:nvSpPr>
        <p:spPr bwMode="auto">
          <a:xfrm>
            <a:off x="4681728" y="25786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plots/shrinkage_bias_variance.png</a:t>
            </a:r>
            <a:endParaRPr lang="en-US" sz="750"/>
          </a:p>
        </p:txBody>
      </p:sp>
      <p:sp>
        <p:nvSpPr>
          <p:cNvPr id="1803193057" name="Text 20"/>
          <p:cNvSpPr/>
          <p:nvPr/>
        </p:nvSpPr>
        <p:spPr bwMode="auto">
          <a:xfrm>
            <a:off x="4681728" y="28346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Bias–Variance Tradeoff</a:t>
            </a:r>
            <a:endParaRPr lang="en-US" sz="1000"/>
          </a:p>
        </p:txBody>
      </p:sp>
      <p:sp>
        <p:nvSpPr>
          <p:cNvPr id="1918216852" name="Shape 21"/>
          <p:cNvSpPr/>
          <p:nvPr/>
        </p:nvSpPr>
        <p:spPr bwMode="auto">
          <a:xfrm>
            <a:off x="164592" y="3630168"/>
            <a:ext cx="8814816" cy="117043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05992690" name="Shape 22"/>
          <p:cNvSpPr/>
          <p:nvPr/>
        </p:nvSpPr>
        <p:spPr bwMode="auto">
          <a:xfrm>
            <a:off x="164592" y="3630168"/>
            <a:ext cx="881481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2995534" name="Text 23"/>
          <p:cNvSpPr/>
          <p:nvPr/>
        </p:nvSpPr>
        <p:spPr bwMode="auto">
          <a:xfrm>
            <a:off x="164592" y="3630168"/>
            <a:ext cx="8814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plots/shrinkage_coef_paths.png</a:t>
            </a:r>
            <a:endParaRPr lang="en-US" sz="750"/>
          </a:p>
        </p:txBody>
      </p:sp>
      <p:sp>
        <p:nvSpPr>
          <p:cNvPr id="1065040894" name="Text 24"/>
          <p:cNvSpPr/>
          <p:nvPr/>
        </p:nvSpPr>
        <p:spPr bwMode="auto">
          <a:xfrm>
            <a:off x="164592" y="3886200"/>
            <a:ext cx="8814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Coefficient Shrinkage Paths: Ridge (left) · Lasso (right)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553419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02301212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98493381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05C · DIM. REDUCTION</a:t>
            </a:r>
            <a:endParaRPr lang="en-US" sz="800"/>
          </a:p>
        </p:txBody>
      </p:sp>
      <p:sp>
        <p:nvSpPr>
          <p:cNvPr id="1434591333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PCA Regression vs Partial Least Squares</a:t>
            </a:r>
            <a:endParaRPr lang="en-US" sz="2400"/>
          </a:p>
        </p:txBody>
      </p:sp>
      <p:sp>
        <p:nvSpPr>
          <p:cNvPr id="626300713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06377155" name="Shape 5"/>
          <p:cNvSpPr/>
          <p:nvPr/>
        </p:nvSpPr>
        <p:spPr bwMode="auto">
          <a:xfrm>
            <a:off x="164592" y="1298448"/>
            <a:ext cx="22402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520133551" name="Shape 6"/>
          <p:cNvSpPr/>
          <p:nvPr/>
        </p:nvSpPr>
        <p:spPr bwMode="auto">
          <a:xfrm>
            <a:off x="164592" y="1298448"/>
            <a:ext cx="22402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55239792" name="Text 7"/>
          <p:cNvSpPr/>
          <p:nvPr/>
        </p:nvSpPr>
        <p:spPr bwMode="auto">
          <a:xfrm>
            <a:off x="256032" y="129844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PCR — Principal Component Regression</a:t>
            </a:r>
            <a:endParaRPr lang="en-US" sz="950"/>
          </a:p>
        </p:txBody>
      </p:sp>
      <p:sp>
        <p:nvSpPr>
          <p:cNvPr id="722867870" name="Text 8"/>
          <p:cNvSpPr/>
          <p:nvPr/>
        </p:nvSpPr>
        <p:spPr bwMode="auto">
          <a:xfrm>
            <a:off x="256032" y="1664208"/>
            <a:ext cx="20756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Z_k = XV_k  (top k eigenvectors of XᵀX)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Unsupervised: maximises variance in X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Components may not predict y well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Needs more components than PLS</a:t>
            </a:r>
            <a:endParaRPr lang="en-US" sz="1000"/>
          </a:p>
        </p:txBody>
      </p:sp>
      <p:sp>
        <p:nvSpPr>
          <p:cNvPr id="1940179342" name="Shape 9"/>
          <p:cNvSpPr/>
          <p:nvPr/>
        </p:nvSpPr>
        <p:spPr bwMode="auto">
          <a:xfrm>
            <a:off x="2587752" y="1298448"/>
            <a:ext cx="22402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283504306" name="Shape 10"/>
          <p:cNvSpPr/>
          <p:nvPr/>
        </p:nvSpPr>
        <p:spPr bwMode="auto">
          <a:xfrm>
            <a:off x="2587752" y="1298448"/>
            <a:ext cx="2240280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41080761" name="Text 11"/>
          <p:cNvSpPr/>
          <p:nvPr/>
        </p:nvSpPr>
        <p:spPr bwMode="auto">
          <a:xfrm>
            <a:off x="2679192" y="129844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PLS — Partial Least Squares</a:t>
            </a:r>
            <a:endParaRPr lang="en-US" sz="950"/>
          </a:p>
        </p:txBody>
      </p:sp>
      <p:sp>
        <p:nvSpPr>
          <p:cNvPr id="652223840" name="Text 12"/>
          <p:cNvSpPr/>
          <p:nvPr/>
        </p:nvSpPr>
        <p:spPr bwMode="auto">
          <a:xfrm>
            <a:off x="2679192" y="1664208"/>
            <a:ext cx="2075688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Supervised: maximises Cov(Xw, y)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Components carry predictive signal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Fewer components needed vs PCR</a:t>
            </a:r>
            <a:endParaRPr lang="en-US" sz="1000"/>
          </a:p>
          <a:p>
            <a:pPr marL="34290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Outperforms PCR when y-relevant</a:t>
            </a:r>
            <a:endParaRPr lang="en-US" sz="1000"/>
          </a:p>
        </p:txBody>
      </p:sp>
      <p:sp>
        <p:nvSpPr>
          <p:cNvPr id="533702902" name="Shape 13"/>
          <p:cNvSpPr/>
          <p:nvPr/>
        </p:nvSpPr>
        <p:spPr bwMode="auto">
          <a:xfrm>
            <a:off x="164592" y="3538728"/>
            <a:ext cx="1417320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7733325" name="Text 14"/>
          <p:cNvSpPr/>
          <p:nvPr/>
        </p:nvSpPr>
        <p:spPr bwMode="auto">
          <a:xfrm>
            <a:off x="164592" y="3611880"/>
            <a:ext cx="14173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2800"/>
          </a:p>
        </p:txBody>
      </p:sp>
      <p:sp>
        <p:nvSpPr>
          <p:cNvPr id="1043631518" name="Text 15"/>
          <p:cNvSpPr/>
          <p:nvPr/>
        </p:nvSpPr>
        <p:spPr bwMode="auto">
          <a:xfrm>
            <a:off x="164592" y="3951122"/>
            <a:ext cx="1417320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OLS MSE</a:t>
            </a:r>
            <a:endParaRPr lang="en-US" sz="1000"/>
          </a:p>
        </p:txBody>
      </p:sp>
      <p:sp>
        <p:nvSpPr>
          <p:cNvPr id="1062290139" name="Shape 16"/>
          <p:cNvSpPr/>
          <p:nvPr/>
        </p:nvSpPr>
        <p:spPr bwMode="auto">
          <a:xfrm>
            <a:off x="1764792" y="3538728"/>
            <a:ext cx="14173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3948735" name="Text 17"/>
          <p:cNvSpPr/>
          <p:nvPr/>
        </p:nvSpPr>
        <p:spPr bwMode="auto">
          <a:xfrm>
            <a:off x="1764792" y="3611880"/>
            <a:ext cx="14173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2800"/>
          </a:p>
        </p:txBody>
      </p:sp>
      <p:sp>
        <p:nvSpPr>
          <p:cNvPr id="1244902827" name="Text 18"/>
          <p:cNvSpPr/>
          <p:nvPr/>
        </p:nvSpPr>
        <p:spPr bwMode="auto">
          <a:xfrm>
            <a:off x="1764792" y="3951122"/>
            <a:ext cx="1417320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PCR Best MSE</a:t>
            </a:r>
            <a:endParaRPr lang="en-US" sz="1000"/>
          </a:p>
        </p:txBody>
      </p:sp>
      <p:sp>
        <p:nvSpPr>
          <p:cNvPr id="1579337107" name="Shape 19"/>
          <p:cNvSpPr/>
          <p:nvPr/>
        </p:nvSpPr>
        <p:spPr bwMode="auto">
          <a:xfrm>
            <a:off x="3364992" y="3538728"/>
            <a:ext cx="1417320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63811379" name="Text 20"/>
          <p:cNvSpPr/>
          <p:nvPr/>
        </p:nvSpPr>
        <p:spPr bwMode="auto">
          <a:xfrm>
            <a:off x="3364992" y="3611880"/>
            <a:ext cx="14173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[FILL]</a:t>
            </a:r>
            <a:endParaRPr lang="en-US" sz="2800"/>
          </a:p>
        </p:txBody>
      </p:sp>
      <p:sp>
        <p:nvSpPr>
          <p:cNvPr id="831964819" name="Text 21"/>
          <p:cNvSpPr/>
          <p:nvPr/>
        </p:nvSpPr>
        <p:spPr bwMode="auto">
          <a:xfrm>
            <a:off x="3364992" y="3951122"/>
            <a:ext cx="1417320" cy="31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PLS Best MSE</a:t>
            </a:r>
            <a:endParaRPr lang="en-US" sz="1000"/>
          </a:p>
        </p:txBody>
      </p:sp>
      <p:sp>
        <p:nvSpPr>
          <p:cNvPr id="1652684446" name="Shape 22"/>
          <p:cNvSpPr/>
          <p:nvPr/>
        </p:nvSpPr>
        <p:spPr bwMode="auto">
          <a:xfrm>
            <a:off x="5010912" y="1298448"/>
            <a:ext cx="3968496" cy="14173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4507196" name="Shape 23"/>
          <p:cNvSpPr/>
          <p:nvPr/>
        </p:nvSpPr>
        <p:spPr bwMode="auto">
          <a:xfrm>
            <a:off x="5010912" y="1298448"/>
            <a:ext cx="396849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49519000" name="Text 24"/>
          <p:cNvSpPr/>
          <p:nvPr/>
        </p:nvSpPr>
        <p:spPr bwMode="auto">
          <a:xfrm>
            <a:off x="5010912" y="129844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plots/pca_mse_variance.png</a:t>
            </a:r>
            <a:endParaRPr lang="en-US" sz="750"/>
          </a:p>
        </p:txBody>
      </p:sp>
      <p:sp>
        <p:nvSpPr>
          <p:cNvPr id="1409718244" name="Text 25"/>
          <p:cNvSpPr/>
          <p:nvPr/>
        </p:nvSpPr>
        <p:spPr bwMode="auto">
          <a:xfrm>
            <a:off x="5010912" y="1554480"/>
            <a:ext cx="3968496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PCA: MSE vs Components + Scree Plot</a:t>
            </a:r>
            <a:endParaRPr lang="en-US" sz="1000"/>
          </a:p>
        </p:txBody>
      </p:sp>
      <p:sp>
        <p:nvSpPr>
          <p:cNvPr id="1718954527" name="Shape 26"/>
          <p:cNvSpPr/>
          <p:nvPr/>
        </p:nvSpPr>
        <p:spPr bwMode="auto">
          <a:xfrm>
            <a:off x="5010912" y="2807208"/>
            <a:ext cx="3968496" cy="148132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44987267" name="Shape 27"/>
          <p:cNvSpPr/>
          <p:nvPr/>
        </p:nvSpPr>
        <p:spPr bwMode="auto">
          <a:xfrm>
            <a:off x="5010912" y="2807208"/>
            <a:ext cx="396849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36780981" name="Text 28"/>
          <p:cNvSpPr/>
          <p:nvPr/>
        </p:nvSpPr>
        <p:spPr bwMode="auto">
          <a:xfrm>
            <a:off x="5010912" y="280720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plots/pca_vs_pls.png</a:t>
            </a:r>
            <a:endParaRPr lang="en-US" sz="750"/>
          </a:p>
        </p:txBody>
      </p:sp>
      <p:sp>
        <p:nvSpPr>
          <p:cNvPr id="971337495" name="Text 29"/>
          <p:cNvSpPr/>
          <p:nvPr/>
        </p:nvSpPr>
        <p:spPr bwMode="auto">
          <a:xfrm>
            <a:off x="5010912" y="3063240"/>
            <a:ext cx="3968496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PCR vs PLS vs Full OLS Test MSE</a:t>
            </a:r>
            <a:endParaRPr lang="en-US" sz="1000"/>
          </a:p>
        </p:txBody>
      </p:sp>
      <p:sp>
        <p:nvSpPr>
          <p:cNvPr id="354711561" name="Shape 30"/>
          <p:cNvSpPr/>
          <p:nvPr/>
        </p:nvSpPr>
        <p:spPr bwMode="auto">
          <a:xfrm>
            <a:off x="5010912" y="4288536"/>
            <a:ext cx="3968496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7403945" name="Shape 31"/>
          <p:cNvSpPr/>
          <p:nvPr/>
        </p:nvSpPr>
        <p:spPr bwMode="auto">
          <a:xfrm>
            <a:off x="5010912" y="4288536"/>
            <a:ext cx="396849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46828475" name="Text 32"/>
          <p:cNvSpPr/>
          <p:nvPr/>
        </p:nvSpPr>
        <p:spPr bwMode="auto">
          <a:xfrm>
            <a:off x="5010912" y="428853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plots/pca_biplot.png</a:t>
            </a:r>
            <a:endParaRPr lang="en-US" sz="750"/>
          </a:p>
        </p:txBody>
      </p:sp>
      <p:sp>
        <p:nvSpPr>
          <p:cNvPr id="896715426" name="Text 33"/>
          <p:cNvSpPr/>
          <p:nvPr/>
        </p:nvSpPr>
        <p:spPr bwMode="auto">
          <a:xfrm>
            <a:off x="5010912" y="4544568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PCA Biplot: PC1 vs PC2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768886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33233302" name="Shape 1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47390315" name="Text 2"/>
          <p:cNvSpPr/>
          <p:nvPr/>
        </p:nvSpPr>
        <p:spPr bwMode="auto">
          <a:xfrm>
            <a:off x="164592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 · RESULTS</a:t>
            </a:r>
            <a:endParaRPr lang="en-US" sz="800"/>
          </a:p>
        </p:txBody>
      </p:sp>
      <p:sp>
        <p:nvSpPr>
          <p:cNvPr id="1263352262" name="Text 3"/>
          <p:cNvSpPr/>
          <p:nvPr/>
        </p:nvSpPr>
        <p:spPr bwMode="auto">
          <a:xfrm>
            <a:off x="164592" y="658368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Final Model Comparison — All Methods</a:t>
            </a:r>
            <a:endParaRPr lang="en-US" sz="2400"/>
          </a:p>
        </p:txBody>
      </p:sp>
      <p:sp>
        <p:nvSpPr>
          <p:cNvPr id="2017014942" name="Shape 4"/>
          <p:cNvSpPr/>
          <p:nvPr/>
        </p:nvSpPr>
        <p:spPr bwMode="auto">
          <a:xfrm>
            <a:off x="164592" y="1188720"/>
            <a:ext cx="88148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86612941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64592" y="1298448"/>
          <a:ext cx="8814816" cy="230428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762963"/>
                <a:gridCol w="1762963"/>
                <a:gridCol w="1762963"/>
                <a:gridCol w="1762963"/>
                <a:gridCol w="1762963"/>
              </a:tblGrid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MSE (€²)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R²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Advantage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OLS (all features)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Max flexibility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Forward Stepwise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Subset Selection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Interpretable, sparse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Ridge (λ=[FILL])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L2 Shrinkage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Keeps all features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Lasso (λ=[FILL])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L1 Shrinkage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Automatic selection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PCR (k=[FILL] comp.)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Unsupervised Dim. Red.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Handles collinearity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PLS (k=[FILL] comp.)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Supervised Dim. Red.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[FILL]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Max predictive signal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33298418" name="Shape 5"/>
          <p:cNvSpPr/>
          <p:nvPr/>
        </p:nvSpPr>
        <p:spPr bwMode="auto">
          <a:xfrm>
            <a:off x="164592" y="3694176"/>
            <a:ext cx="8814816" cy="11155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7327918" name="Shape 6"/>
          <p:cNvSpPr/>
          <p:nvPr/>
        </p:nvSpPr>
        <p:spPr bwMode="auto">
          <a:xfrm>
            <a:off x="164592" y="3694176"/>
            <a:ext cx="8814816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64119665" name="Text 7"/>
          <p:cNvSpPr/>
          <p:nvPr/>
        </p:nvSpPr>
        <p:spPr bwMode="auto">
          <a:xfrm>
            <a:off x="164592" y="3694176"/>
            <a:ext cx="8814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📁 plots/model_selection_final_comparison.png</a:t>
            </a:r>
            <a:endParaRPr lang="en-US" sz="750"/>
          </a:p>
        </p:txBody>
      </p:sp>
      <p:sp>
        <p:nvSpPr>
          <p:cNvPr id="1220576479" name="Text 8"/>
          <p:cNvSpPr/>
          <p:nvPr/>
        </p:nvSpPr>
        <p:spPr bwMode="auto">
          <a:xfrm>
            <a:off x="164592" y="3950208"/>
            <a:ext cx="881481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 MSE &amp; R² Bar Chart — All Models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534920" name="Shape 0"/>
          <p:cNvSpPr/>
          <p:nvPr/>
        </p:nvSpPr>
        <p:spPr bwMode="auto">
          <a:xfrm>
            <a:off x="0" y="0"/>
            <a:ext cx="9144000" cy="8229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242014838" name="Text 1"/>
          <p:cNvSpPr/>
          <p:nvPr/>
        </p:nvSpPr>
        <p:spPr bwMode="auto"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Conclusions &amp; Key Takeaways</a:t>
            </a:r>
            <a:endParaRPr lang="en-US" sz="2200"/>
          </a:p>
        </p:txBody>
      </p:sp>
      <p:sp>
        <p:nvSpPr>
          <p:cNvPr id="1576684005" name="Shape 2"/>
          <p:cNvSpPr/>
          <p:nvPr/>
        </p:nvSpPr>
        <p:spPr bwMode="auto">
          <a:xfrm>
            <a:off x="182880" y="960120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4173455" name="Text 3"/>
          <p:cNvSpPr/>
          <p:nvPr/>
        </p:nvSpPr>
        <p:spPr bwMode="auto">
          <a:xfrm>
            <a:off x="347472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🔍 Classification</a:t>
            </a:r>
            <a:endParaRPr lang="en-US" sz="1100"/>
          </a:p>
        </p:txBody>
      </p:sp>
      <p:sp>
        <p:nvSpPr>
          <p:cNvPr id="1012594227" name="Text 4"/>
          <p:cNvSpPr/>
          <p:nvPr/>
        </p:nvSpPr>
        <p:spPr bwMode="auto">
          <a:xfrm>
            <a:off x="347472" y="126187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LR &amp; LDA achieve AUC &gt; 0.90. Call duration is the strongest predictor but post-hoc. Previous campaign success is the best actionable predictor.</a:t>
            </a:r>
            <a:endParaRPr lang="en-US" sz="1050"/>
          </a:p>
        </p:txBody>
      </p:sp>
      <p:sp>
        <p:nvSpPr>
          <p:cNvPr id="680729635" name="Shape 5"/>
          <p:cNvSpPr/>
          <p:nvPr/>
        </p:nvSpPr>
        <p:spPr bwMode="auto">
          <a:xfrm>
            <a:off x="182880" y="1755648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15725779" name="Text 6"/>
          <p:cNvSpPr/>
          <p:nvPr/>
        </p:nvSpPr>
        <p:spPr bwMode="auto">
          <a:xfrm>
            <a:off x="347472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📊 Resampling</a:t>
            </a:r>
            <a:endParaRPr lang="en-US" sz="1100"/>
          </a:p>
        </p:txBody>
      </p:sp>
      <p:sp>
        <p:nvSpPr>
          <p:cNvPr id="318851426" name="Text 7"/>
          <p:cNvSpPr/>
          <p:nvPr/>
        </p:nvSpPr>
        <p:spPr bwMode="auto">
          <a:xfrm>
            <a:off x="347472" y="205740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K=10 CV is the practical optimum — low bias, manageable cost. Bootstrap confirms estimates and adds 95% CI on test error. Degree 1 (linear) is optimal throughout.</a:t>
            </a:r>
            <a:endParaRPr lang="en-US" sz="1050"/>
          </a:p>
        </p:txBody>
      </p:sp>
      <p:sp>
        <p:nvSpPr>
          <p:cNvPr id="1899141830" name="Shape 8"/>
          <p:cNvSpPr/>
          <p:nvPr/>
        </p:nvSpPr>
        <p:spPr bwMode="auto">
          <a:xfrm>
            <a:off x="182880" y="2551176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5133501" name="Text 9"/>
          <p:cNvSpPr/>
          <p:nvPr/>
        </p:nvSpPr>
        <p:spPr bwMode="auto">
          <a:xfrm>
            <a:off x="347472" y="2551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🎯 Subset Selection</a:t>
            </a:r>
            <a:endParaRPr lang="en-US" sz="1100"/>
          </a:p>
        </p:txBody>
      </p:sp>
      <p:sp>
        <p:nvSpPr>
          <p:cNvPr id="2094284145" name="Text 10"/>
          <p:cNvSpPr/>
          <p:nvPr/>
        </p:nvSpPr>
        <p:spPr bwMode="auto">
          <a:xfrm>
            <a:off x="347472" y="285292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BIC selects the most parsimonious model. CV MSE confirms BIC choice is honest. AIC/Cp are more lenient; Adj-R² tracks closely with CV.</a:t>
            </a:r>
            <a:endParaRPr lang="en-US" sz="1050"/>
          </a:p>
        </p:txBody>
      </p:sp>
      <p:sp>
        <p:nvSpPr>
          <p:cNvPr id="91895656" name="Shape 11"/>
          <p:cNvSpPr/>
          <p:nvPr/>
        </p:nvSpPr>
        <p:spPr bwMode="auto">
          <a:xfrm>
            <a:off x="182880" y="3346704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27951770" name="Text 12"/>
          <p:cNvSpPr/>
          <p:nvPr/>
        </p:nvSpPr>
        <p:spPr bwMode="auto">
          <a:xfrm>
            <a:off x="347472" y="33467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🔧 Shrinkage</a:t>
            </a:r>
            <a:endParaRPr lang="en-US" sz="1100"/>
          </a:p>
        </p:txBody>
      </p:sp>
      <p:sp>
        <p:nvSpPr>
          <p:cNvPr id="382458913" name="Text 13"/>
          <p:cNvSpPr/>
          <p:nvPr/>
        </p:nvSpPr>
        <p:spPr bwMode="auto">
          <a:xfrm>
            <a:off x="347472" y="364845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Lasso's sparsity is practically valuable — eliminates irrelevant features automatically. Ridge performs well when all features contribute. Both reduce overfitting vs OLS.</a:t>
            </a:r>
            <a:endParaRPr lang="en-US" sz="1050"/>
          </a:p>
        </p:txBody>
      </p:sp>
      <p:sp>
        <p:nvSpPr>
          <p:cNvPr id="1826217676" name="Shape 14"/>
          <p:cNvSpPr/>
          <p:nvPr/>
        </p:nvSpPr>
        <p:spPr bwMode="auto">
          <a:xfrm>
            <a:off x="182880" y="4142232"/>
            <a:ext cx="54864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36565798" name="Text 15"/>
          <p:cNvSpPr/>
          <p:nvPr/>
        </p:nvSpPr>
        <p:spPr bwMode="auto">
          <a:xfrm>
            <a:off x="347472" y="4142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📐 PCA vs PLS</a:t>
            </a:r>
            <a:endParaRPr lang="en-US" sz="1100"/>
          </a:p>
        </p:txBody>
      </p:sp>
      <p:sp>
        <p:nvSpPr>
          <p:cNvPr id="805391550" name="Text 16"/>
          <p:cNvSpPr/>
          <p:nvPr/>
        </p:nvSpPr>
        <p:spPr bwMode="auto">
          <a:xfrm>
            <a:off x="347472" y="4443984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PLS reaches minimum test MSE with fewer components than PCR. Both can outperform full OLS under collinearity.</a:t>
            </a:r>
            <a:endParaRPr lang="en-US" sz="1050"/>
          </a:p>
        </p:txBody>
      </p:sp>
      <p:sp>
        <p:nvSpPr>
          <p:cNvPr id="266197003" name="Shape 17"/>
          <p:cNvSpPr/>
          <p:nvPr/>
        </p:nvSpPr>
        <p:spPr bwMode="auto">
          <a:xfrm>
            <a:off x="7132320" y="4183380"/>
            <a:ext cx="182880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33293465" name="Text 18"/>
          <p:cNvSpPr/>
          <p:nvPr/>
        </p:nvSpPr>
        <p:spPr bwMode="auto">
          <a:xfrm>
            <a:off x="7132320" y="41833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Questions?</a:t>
            </a:r>
            <a:endParaRPr lang="en-US" sz="1600"/>
          </a:p>
        </p:txBody>
      </p:sp>
      <p:sp>
        <p:nvSpPr>
          <p:cNvPr id="787249098" name="Text 19"/>
          <p:cNvSpPr/>
          <p:nvPr/>
        </p:nvSpPr>
        <p:spPr bwMode="auto">
          <a:xfrm>
            <a:off x="182880" y="4887468"/>
            <a:ext cx="6766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Moro et al. (2011) · UCI Bank Marketing · ESM'2011 EUROSIS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– Statistical ML Analysis</dc:title>
  <dc:subject>PptxGenJS Presentation</dc:subject>
  <dc:creator>[AUTHOR NAME]</dc:creator>
  <cp:lastModifiedBy/>
  <cp:revision>2</cp:revision>
  <dcterms:created xsi:type="dcterms:W3CDTF">2026-03-10T11:38:19Z</dcterms:created>
  <dcterms:modified xsi:type="dcterms:W3CDTF">2026-03-10T12:13:28Z</dcterms:modified>
</cp:coreProperties>
</file>